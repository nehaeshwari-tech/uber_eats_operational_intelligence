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 Mono Medium"/>
      <p:regular r:id="rId21"/>
      <p:bold r:id="rId22"/>
      <p:italic r:id="rId23"/>
      <p:boldItalic r:id="rId24"/>
    </p:embeddedFont>
    <p:embeddedFont>
      <p:font typeface="Inter SemiBold"/>
      <p:regular r:id="rId25"/>
      <p:bold r:id="rId26"/>
      <p:italic r:id="rId27"/>
      <p:boldItalic r:id="rId28"/>
    </p:embeddedFont>
    <p:embeddedFont>
      <p:font typeface="Inter"/>
      <p:bold r:id="rId29"/>
      <p:boldItalic r:id="rId30"/>
    </p:embeddedFont>
    <p:embeddedFont>
      <p:font typeface="Roboto Mono"/>
      <p:bold r:id="rId31"/>
      <p:boldItalic r:id="rId32"/>
    </p:embeddedFont>
    <p:embeddedFont>
      <p:font typeface="Inter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MonoMedium-bold.fntdata"/><Relationship Id="rId21" Type="http://schemas.openxmlformats.org/officeDocument/2006/relationships/font" Target="fonts/RobotoMonoMedium-regular.fntdata"/><Relationship Id="rId24" Type="http://schemas.openxmlformats.org/officeDocument/2006/relationships/font" Target="fonts/RobotoMonoMedium-boldItalic.fntdata"/><Relationship Id="rId23" Type="http://schemas.openxmlformats.org/officeDocument/2006/relationships/font" Target="fonts/RobotoMono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bold.fntdata"/><Relationship Id="rId25" Type="http://schemas.openxmlformats.org/officeDocument/2006/relationships/font" Target="fonts/InterSemiBold-regular.fntdata"/><Relationship Id="rId28" Type="http://schemas.openxmlformats.org/officeDocument/2006/relationships/font" Target="fonts/InterSemiBold-boldItalic.fntdata"/><Relationship Id="rId27" Type="http://schemas.openxmlformats.org/officeDocument/2006/relationships/font" Target="fonts/Inter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6.xml"/><Relationship Id="rId33" Type="http://schemas.openxmlformats.org/officeDocument/2006/relationships/font" Target="fonts/InterMedium-regular.fntdata"/><Relationship Id="rId10" Type="http://schemas.openxmlformats.org/officeDocument/2006/relationships/slide" Target="slides/slide5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35" Type="http://schemas.openxmlformats.org/officeDocument/2006/relationships/font" Target="fonts/InterMedium-italic.fntdata"/><Relationship Id="rId12" Type="http://schemas.openxmlformats.org/officeDocument/2006/relationships/slide" Target="slides/slide7.xml"/><Relationship Id="rId34" Type="http://schemas.openxmlformats.org/officeDocument/2006/relationships/font" Target="fonts/InterMedium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InterMedium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68f0d28419eed7ae_2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68f0d28419eed7ae_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68f0d28419eed7ae_2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h68f0d28419eed7ae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68f0d28419eed7ae_2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h68f0d28419eed7ae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68f0d28419eed7ae_2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68f0d28419eed7ae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68f0d28419eed7ae_2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h68f0d28419eed7ae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h68f0d28419eed7ae_2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h68f0d28419eed7ae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68f0d28419eed7ae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h68f0d28419eed7ae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68f0d28419eed7ae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h68f0d28419eed7ae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h68f0d28419eed7ae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h68f0d28419eed7ae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h68f0d28419eed7ae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h68f0d28419eed7ae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h68f0d28419eed7ae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h68f0d28419eed7ae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h68f0d28419eed7ae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h68f0d28419eed7ae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h68f0d28419eed7ae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h68f0d28419eed7ae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h68f0d28419eed7ae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h68f0d28419eed7ae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h68f0d28419eed7ae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h68f0d28419eed7ae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68f0d28419eed7ae_13_0)">
  <p:cSld name="Generated (h68f0d28419eed7ae_13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5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" name="Google Shape;58;p14"/>
            <p:cNvGrpSpPr/>
            <p:nvPr/>
          </p:nvGrpSpPr>
          <p:grpSpPr>
            <a:xfrm>
              <a:off x="571500" y="571500"/>
              <a:ext cx="2209800" cy="247650"/>
              <a:chOff x="0" y="0"/>
              <a:chExt cx="2209800" cy="247650"/>
            </a:xfrm>
          </p:grpSpPr>
          <p:sp>
            <p:nvSpPr>
              <p:cNvPr id="59" name="Google Shape;59;p14"/>
              <p:cNvSpPr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solidFill>
                <a:srgbClr val="005CE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14"/>
              <p:cNvSpPr txBox="1"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OI</a:t>
                </a:r>
                <a:endParaRPr b="1" sz="12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61" name="Google Shape;61;p14"/>
              <p:cNvSpPr txBox="1"/>
              <p:nvPr/>
            </p:nvSpPr>
            <p:spPr>
              <a:xfrm>
                <a:off x="304800" y="19050"/>
                <a:ext cx="1905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11418"/>
                    </a:solidFill>
                    <a:latin typeface="Inter"/>
                    <a:ea typeface="Inter"/>
                    <a:cs typeface="Inter"/>
                    <a:sym typeface="Inter"/>
                  </a:rPr>
                  <a:t>UBER EATS INTEL</a:t>
                </a:r>
                <a:endParaRPr b="1" sz="10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2" name="Google Shape;62;p14"/>
          <p:cNvGrpSpPr/>
          <p:nvPr/>
        </p:nvGrpSpPr>
        <p:grpSpPr>
          <a:xfrm>
            <a:off x="571500" y="1428750"/>
            <a:ext cx="4000500" cy="2048025"/>
            <a:chOff x="571500" y="1428750"/>
            <a:chExt cx="4000500" cy="2048025"/>
          </a:xfrm>
        </p:grpSpPr>
        <p:sp>
          <p:nvSpPr>
            <p:cNvPr id="63" name="Google Shape;63;p14"/>
            <p:cNvSpPr txBox="1"/>
            <p:nvPr/>
          </p:nvSpPr>
          <p:spPr>
            <a:xfrm>
              <a:off x="571500" y="1428750"/>
              <a:ext cx="4000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8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Uber Eats –</a:t>
              </a:r>
              <a:endParaRPr b="1" sz="248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900"/>
                </a:spcAft>
                <a:buNone/>
              </a:pPr>
              <a:r>
                <a:rPr b="1" lang="en" sz="248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Operational Intelligence</a:t>
              </a:r>
              <a:endParaRPr b="1" sz="248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571500" y="2619375"/>
              <a:ext cx="571500" cy="381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 txBox="1"/>
            <p:nvPr/>
          </p:nvSpPr>
          <p:spPr>
            <a:xfrm>
              <a:off x="571500" y="2809875"/>
              <a:ext cx="4000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1400">
                  <a:solidFill>
                    <a:srgbClr val="5C667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End-to-End Data Analytics and Machine Learning Solution</a:t>
              </a:r>
              <a:endParaRPr b="0" sz="1400">
                <a:solidFill>
                  <a:srgbClr val="5C667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66" name="Google Shape;66;p14"/>
          <p:cNvGrpSpPr/>
          <p:nvPr/>
        </p:nvGrpSpPr>
        <p:grpSpPr>
          <a:xfrm>
            <a:off x="571500" y="3762375"/>
            <a:ext cx="4000500" cy="857400"/>
            <a:chOff x="571500" y="3762375"/>
            <a:chExt cx="4000500" cy="857400"/>
          </a:xfrm>
        </p:grpSpPr>
        <p:cxnSp>
          <p:nvCxnSpPr>
            <p:cNvPr id="67" name="Google Shape;67;p14"/>
            <p:cNvCxnSpPr/>
            <p:nvPr/>
          </p:nvCxnSpPr>
          <p:spPr>
            <a:xfrm>
              <a:off x="571500" y="3762375"/>
              <a:ext cx="4000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5D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8" name="Google Shape;68;p14"/>
            <p:cNvSpPr txBox="1"/>
            <p:nvPr/>
          </p:nvSpPr>
          <p:spPr>
            <a:xfrm>
              <a:off x="571500" y="3952875"/>
              <a:ext cx="4000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Presented by:</a:t>
              </a:r>
              <a:r>
                <a:rPr b="0" lang="en" sz="12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B. Sai Neha Eshwari</a:t>
              </a:r>
              <a:endParaRPr b="0" sz="12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900"/>
                </a:spcAft>
                <a:buNone/>
              </a:pPr>
              <a:r>
                <a:rPr b="1" lang="en" sz="1000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rPr>
                <a:t>Project Duration:</a:t>
              </a:r>
              <a:r>
                <a:rPr b="0" lang="en" sz="1000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rPr>
                <a:t> 7 Days</a:t>
              </a:r>
              <a:endParaRPr b="0" sz="100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69" name="Google Shape;6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0" y="1333500"/>
            <a:ext cx="3810000" cy="21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5"/>
          <p:cNvGrpSpPr/>
          <p:nvPr/>
        </p:nvGrpSpPr>
        <p:grpSpPr>
          <a:xfrm>
            <a:off x="6953250" y="361950"/>
            <a:ext cx="1733700" cy="247650"/>
            <a:chOff x="0" y="0"/>
            <a:chExt cx="1733700" cy="247650"/>
          </a:xfrm>
        </p:grpSpPr>
        <p:sp>
          <p:nvSpPr>
            <p:cNvPr id="75" name="Google Shape;75;p15"/>
            <p:cNvSpPr/>
            <p:nvPr/>
          </p:nvSpPr>
          <p:spPr>
            <a:xfrm>
              <a:off x="0" y="0"/>
              <a:ext cx="228600" cy="2286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5"/>
            <p:cNvSpPr txBox="1"/>
            <p:nvPr/>
          </p:nvSpPr>
          <p:spPr>
            <a:xfrm>
              <a:off x="0" y="0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OI</a:t>
              </a:r>
              <a:endParaRPr b="1"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77" name="Google Shape;77;p15"/>
            <p:cNvSpPr txBox="1"/>
            <p:nvPr/>
          </p:nvSpPr>
          <p:spPr>
            <a:xfrm>
              <a:off x="304800" y="19050"/>
              <a:ext cx="1428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UBER EATS</a:t>
              </a:r>
              <a:endParaRPr b="1" sz="10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8" name="Google Shape;78;p15"/>
          <p:cNvSpPr txBox="1"/>
          <p:nvPr/>
        </p:nvSpPr>
        <p:spPr>
          <a:xfrm>
            <a:off x="571500" y="333375"/>
            <a:ext cx="6191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18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Understanding the Business Problem</a:t>
            </a:r>
            <a:endParaRPr b="1" sz="180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9" name="Google Shape;79;p15"/>
          <p:cNvCxnSpPr/>
          <p:nvPr/>
        </p:nvCxnSpPr>
        <p:spPr>
          <a:xfrm>
            <a:off x="571500" y="809625"/>
            <a:ext cx="80010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114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15"/>
          <p:cNvSpPr txBox="1"/>
          <p:nvPr/>
        </p:nvSpPr>
        <p:spPr>
          <a:xfrm>
            <a:off x="571500" y="1000125"/>
            <a:ext cx="3810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Core Objective:</a:t>
            </a:r>
            <a:r>
              <a:rPr b="0" lang="en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 Leverage data analytics and machine learning to resolve core operational challenges, understand operational patterns, evaluate predictive models, and generate actionable business insights.</a:t>
            </a:r>
            <a:endParaRPr b="0" sz="110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Operational Challenges:</a:t>
            </a:r>
            <a:endParaRPr b="0" sz="110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450"/>
              </a:spcBef>
              <a:spcAft>
                <a:spcPts val="0"/>
              </a:spcAft>
              <a:buClr>
                <a:srgbClr val="111418"/>
              </a:buClr>
              <a:buSzPts val="1100"/>
              <a:buFont typeface="Inter"/>
              <a:buChar char="●"/>
            </a:pPr>
            <a:r>
              <a:rPr b="0" lang="en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Understanding customer ordering behavior</a:t>
            </a:r>
            <a:endParaRPr b="0" sz="110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111418"/>
              </a:buClr>
              <a:buSzPts val="1100"/>
              <a:buFont typeface="Inter"/>
              <a:buChar char="●"/>
            </a:pPr>
            <a:r>
              <a:rPr b="0" lang="en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Identifying restaurant performance patterns</a:t>
            </a:r>
            <a:endParaRPr b="0" sz="110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111418"/>
              </a:buClr>
              <a:buSzPts val="1100"/>
              <a:buFont typeface="Inter"/>
              <a:buChar char="●"/>
            </a:pPr>
            <a:r>
              <a:rPr b="0" lang="en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Evaluating customer satisfaction</a:t>
            </a:r>
            <a:endParaRPr b="0" sz="110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111418"/>
              </a:buClr>
              <a:buSzPts val="1100"/>
              <a:buFont typeface="Inter"/>
              <a:buChar char="●"/>
            </a:pPr>
            <a:r>
              <a:rPr b="0" lang="en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Predicting delivery times</a:t>
            </a:r>
            <a:endParaRPr b="0" sz="110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111418"/>
              </a:buClr>
              <a:buSzPts val="1100"/>
              <a:buFont typeface="Inter"/>
              <a:buChar char="●"/>
            </a:pPr>
            <a:r>
              <a:rPr b="0" lang="en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Forecasting hourly order demand</a:t>
            </a:r>
            <a:endParaRPr b="0" sz="110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111418"/>
              </a:buClr>
              <a:buSzPts val="1100"/>
              <a:buFont typeface="Inter"/>
              <a:buChar char="●"/>
            </a:pPr>
            <a:r>
              <a:rPr b="0" lang="en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Analyzing tipping patterns</a:t>
            </a:r>
            <a:endParaRPr b="0" sz="110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111418"/>
              </a:buClr>
              <a:buSzPts val="1100"/>
              <a:buFont typeface="Inter"/>
              <a:buChar char="●"/>
            </a:pPr>
            <a:r>
              <a:rPr b="0" lang="en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Pinpointing high-activity locations and time periods</a:t>
            </a:r>
            <a:endParaRPr b="0" sz="110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b="0" lang="en" sz="100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rPr>
              <a:t>Resolving these challenges will directly lead to better operational decision-making.</a:t>
            </a:r>
            <a:endParaRPr b="0" sz="1000">
              <a:solidFill>
                <a:srgbClr val="5C66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000125"/>
            <a:ext cx="4000500" cy="30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1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87" name="Google Shape;87;p1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5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8" name="Google Shape;88;p16"/>
            <p:cNvGrpSpPr/>
            <p:nvPr/>
          </p:nvGrpSpPr>
          <p:grpSpPr>
            <a:xfrm>
              <a:off x="7143750" y="381000"/>
              <a:ext cx="1733700" cy="247650"/>
              <a:chOff x="0" y="0"/>
              <a:chExt cx="1733700" cy="247650"/>
            </a:xfrm>
          </p:grpSpPr>
          <p:sp>
            <p:nvSpPr>
              <p:cNvPr id="89" name="Google Shape;89;p16"/>
              <p:cNvSpPr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solidFill>
                <a:srgbClr val="005CE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6"/>
              <p:cNvSpPr txBox="1"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OI</a:t>
                </a:r>
                <a:endParaRPr b="1" sz="12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91" name="Google Shape;91;p16"/>
              <p:cNvSpPr txBox="1"/>
              <p:nvPr/>
            </p:nvSpPr>
            <p:spPr>
              <a:xfrm>
                <a:off x="304800" y="19050"/>
                <a:ext cx="1428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11418"/>
                    </a:solidFill>
                    <a:latin typeface="Inter"/>
                    <a:ea typeface="Inter"/>
                    <a:cs typeface="Inter"/>
                    <a:sym typeface="Inter"/>
                  </a:rPr>
                  <a:t>UBER EATS</a:t>
                </a:r>
                <a:endParaRPr b="1" sz="10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92" name="Google Shape;92;p16"/>
            <p:cNvSpPr txBox="1"/>
            <p:nvPr/>
          </p:nvSpPr>
          <p:spPr>
            <a:xfrm>
              <a:off x="571500" y="381000"/>
              <a:ext cx="619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Understanding the Datasets</a:t>
              </a:r>
              <a:endParaRPr b="1" sz="18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93" name="Google Shape;93;p16"/>
            <p:cNvCxnSpPr/>
            <p:nvPr/>
          </p:nvCxnSpPr>
          <p:spPr>
            <a:xfrm>
              <a:off x="571500" y="85725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11418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4" name="Google Shape;94;p16"/>
          <p:cNvSpPr/>
          <p:nvPr/>
        </p:nvSpPr>
        <p:spPr>
          <a:xfrm>
            <a:off x="571500" y="1133475"/>
            <a:ext cx="76200" cy="76200"/>
          </a:xfrm>
          <a:prstGeom prst="rect">
            <a:avLst/>
          </a:prstGeom>
          <a:solidFill>
            <a:srgbClr val="005C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762000" y="1047750"/>
            <a:ext cx="781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Customers:</a:t>
            </a:r>
            <a:r>
              <a:rPr b="0" lang="en" sz="12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 Contains 500 records including age and city.</a:t>
            </a:r>
            <a:endParaRPr b="0" sz="120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6" name="Google Shape;96;p16"/>
          <p:cNvCxnSpPr/>
          <p:nvPr/>
        </p:nvCxnSpPr>
        <p:spPr>
          <a:xfrm>
            <a:off x="762000" y="1476375"/>
            <a:ext cx="7810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16"/>
          <p:cNvSpPr/>
          <p:nvPr/>
        </p:nvSpPr>
        <p:spPr>
          <a:xfrm>
            <a:off x="571500" y="1704975"/>
            <a:ext cx="76200" cy="76200"/>
          </a:xfrm>
          <a:prstGeom prst="rect">
            <a:avLst/>
          </a:prstGeom>
          <a:solidFill>
            <a:srgbClr val="005C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762000" y="1619250"/>
            <a:ext cx="781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Orders:</a:t>
            </a:r>
            <a:r>
              <a:rPr b="0" lang="en" sz="12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 Has 3,000 records tracking timestamps and amounts.</a:t>
            </a:r>
            <a:endParaRPr b="0" sz="120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9" name="Google Shape;99;p16"/>
          <p:cNvCxnSpPr/>
          <p:nvPr/>
        </p:nvCxnSpPr>
        <p:spPr>
          <a:xfrm>
            <a:off x="762000" y="2047875"/>
            <a:ext cx="7810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16"/>
          <p:cNvSpPr/>
          <p:nvPr/>
        </p:nvSpPr>
        <p:spPr>
          <a:xfrm>
            <a:off x="571500" y="2276475"/>
            <a:ext cx="76200" cy="76200"/>
          </a:xfrm>
          <a:prstGeom prst="rect">
            <a:avLst/>
          </a:prstGeom>
          <a:solidFill>
            <a:srgbClr val="005C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 txBox="1"/>
          <p:nvPr/>
        </p:nvSpPr>
        <p:spPr>
          <a:xfrm>
            <a:off x="762000" y="2190750"/>
            <a:ext cx="781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Payments:</a:t>
            </a:r>
            <a:r>
              <a:rPr b="0" lang="en" sz="12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 Includes tip amounts and payment methods (3,000 records).</a:t>
            </a:r>
            <a:endParaRPr b="0" sz="120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2" name="Google Shape;102;p16"/>
          <p:cNvCxnSpPr/>
          <p:nvPr/>
        </p:nvCxnSpPr>
        <p:spPr>
          <a:xfrm>
            <a:off x="762000" y="2619375"/>
            <a:ext cx="7810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16"/>
          <p:cNvSpPr/>
          <p:nvPr/>
        </p:nvSpPr>
        <p:spPr>
          <a:xfrm>
            <a:off x="571500" y="2847975"/>
            <a:ext cx="76200" cy="76200"/>
          </a:xfrm>
          <a:prstGeom prst="rect">
            <a:avLst/>
          </a:prstGeom>
          <a:solidFill>
            <a:srgbClr val="005C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 txBox="1"/>
          <p:nvPr/>
        </p:nvSpPr>
        <p:spPr>
          <a:xfrm>
            <a:off x="762000" y="2762250"/>
            <a:ext cx="781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Deliveries:</a:t>
            </a:r>
            <a:r>
              <a:rPr b="0" lang="en" sz="12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 Monitors distance, weather, and traffic (3,000 records).</a:t>
            </a:r>
            <a:endParaRPr b="0" sz="120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5" name="Google Shape;105;p16"/>
          <p:cNvCxnSpPr/>
          <p:nvPr/>
        </p:nvCxnSpPr>
        <p:spPr>
          <a:xfrm>
            <a:off x="762000" y="3190875"/>
            <a:ext cx="7810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16"/>
          <p:cNvSpPr/>
          <p:nvPr/>
        </p:nvSpPr>
        <p:spPr>
          <a:xfrm>
            <a:off x="571500" y="3419475"/>
            <a:ext cx="76200" cy="76200"/>
          </a:xfrm>
          <a:prstGeom prst="rect">
            <a:avLst/>
          </a:prstGeom>
          <a:solidFill>
            <a:srgbClr val="005C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762000" y="3333750"/>
            <a:ext cx="781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Reviews:</a:t>
            </a:r>
            <a:r>
              <a:rPr b="0" lang="en" sz="12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 Captures text and sentiment (3,000 records).</a:t>
            </a:r>
            <a:endParaRPr b="0" sz="120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8" name="Google Shape;108;p16"/>
          <p:cNvCxnSpPr/>
          <p:nvPr/>
        </p:nvCxnSpPr>
        <p:spPr>
          <a:xfrm>
            <a:off x="762000" y="3762375"/>
            <a:ext cx="7810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16"/>
          <p:cNvSpPr/>
          <p:nvPr/>
        </p:nvSpPr>
        <p:spPr>
          <a:xfrm>
            <a:off x="571500" y="3990975"/>
            <a:ext cx="76200" cy="76200"/>
          </a:xfrm>
          <a:prstGeom prst="rect">
            <a:avLst/>
          </a:prstGeom>
          <a:solidFill>
            <a:srgbClr val="005C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762000" y="3905250"/>
            <a:ext cx="781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Restaurants:</a:t>
            </a:r>
            <a:r>
              <a:rPr b="0" lang="en" sz="12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 Tracks performance and operational attributes for segmentation.</a:t>
            </a:r>
            <a:endParaRPr b="0" sz="120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6" name="Google Shape;116;p17"/>
          <p:cNvGrpSpPr/>
          <p:nvPr/>
        </p:nvGrpSpPr>
        <p:grpSpPr>
          <a:xfrm>
            <a:off x="7143750" y="333375"/>
            <a:ext cx="1733700" cy="247650"/>
            <a:chOff x="0" y="0"/>
            <a:chExt cx="1733700" cy="247650"/>
          </a:xfrm>
        </p:grpSpPr>
        <p:sp>
          <p:nvSpPr>
            <p:cNvPr id="117" name="Google Shape;117;p17"/>
            <p:cNvSpPr/>
            <p:nvPr/>
          </p:nvSpPr>
          <p:spPr>
            <a:xfrm>
              <a:off x="0" y="0"/>
              <a:ext cx="228600" cy="2286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7"/>
            <p:cNvSpPr txBox="1"/>
            <p:nvPr/>
          </p:nvSpPr>
          <p:spPr>
            <a:xfrm>
              <a:off x="0" y="0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OI</a:t>
              </a:r>
              <a:endParaRPr b="1"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19" name="Google Shape;119;p17"/>
            <p:cNvSpPr txBox="1"/>
            <p:nvPr/>
          </p:nvSpPr>
          <p:spPr>
            <a:xfrm>
              <a:off x="304800" y="19050"/>
              <a:ext cx="1428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UBER EATS</a:t>
              </a:r>
              <a:endParaRPr b="1" sz="10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0" name="Google Shape;120;p17"/>
          <p:cNvSpPr txBox="1"/>
          <p:nvPr/>
        </p:nvSpPr>
        <p:spPr>
          <a:xfrm>
            <a:off x="571500" y="333375"/>
            <a:ext cx="6191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18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Data Cleaning and Preparation</a:t>
            </a:r>
            <a:endParaRPr b="1" sz="180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21" name="Google Shape;121;p17"/>
          <p:cNvCxnSpPr/>
          <p:nvPr/>
        </p:nvCxnSpPr>
        <p:spPr>
          <a:xfrm>
            <a:off x="571500" y="809625"/>
            <a:ext cx="80010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11418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2" name="Google Shape;122;p17"/>
          <p:cNvGrpSpPr/>
          <p:nvPr/>
        </p:nvGrpSpPr>
        <p:grpSpPr>
          <a:xfrm>
            <a:off x="571500" y="971550"/>
            <a:ext cx="8001000" cy="400200"/>
            <a:chOff x="571500" y="971550"/>
            <a:chExt cx="8001000" cy="400200"/>
          </a:xfrm>
        </p:grpSpPr>
        <p:sp>
          <p:nvSpPr>
            <p:cNvPr id="123" name="Google Shape;123;p17"/>
            <p:cNvSpPr/>
            <p:nvPr/>
          </p:nvSpPr>
          <p:spPr>
            <a:xfrm>
              <a:off x="571500" y="971550"/>
              <a:ext cx="8001000" cy="400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5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571500" y="971550"/>
              <a:ext cx="38100" cy="4002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7"/>
            <p:cNvSpPr txBox="1"/>
            <p:nvPr/>
          </p:nvSpPr>
          <p:spPr>
            <a:xfrm>
              <a:off x="714375" y="1066800"/>
              <a:ext cx="7715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1" lang="en" sz="893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ETL Pipeline Overview:</a:t>
              </a:r>
              <a:r>
                <a:rPr b="0" lang="en" sz="893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Transforms raw multi-source data through structured cleaning, feature engineering, and encoding into a model-ready integrated dataset.</a:t>
              </a:r>
              <a:endParaRPr b="0" sz="893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26" name="Google Shape;126;p17"/>
          <p:cNvCxnSpPr/>
          <p:nvPr/>
        </p:nvCxnSpPr>
        <p:spPr>
          <a:xfrm>
            <a:off x="1162050" y="1666875"/>
            <a:ext cx="68199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17"/>
          <p:cNvSpPr/>
          <p:nvPr/>
        </p:nvSpPr>
        <p:spPr>
          <a:xfrm>
            <a:off x="1085850" y="1590675"/>
            <a:ext cx="152400" cy="152400"/>
          </a:xfrm>
          <a:prstGeom prst="rect">
            <a:avLst/>
          </a:prstGeom>
          <a:solidFill>
            <a:srgbClr val="11141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2447925" y="1590675"/>
            <a:ext cx="152400" cy="152400"/>
          </a:xfrm>
          <a:prstGeom prst="rect">
            <a:avLst/>
          </a:prstGeom>
          <a:solidFill>
            <a:srgbClr val="005C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3810000" y="1590675"/>
            <a:ext cx="152400" cy="152400"/>
          </a:xfrm>
          <a:prstGeom prst="rect">
            <a:avLst/>
          </a:prstGeom>
          <a:solidFill>
            <a:srgbClr val="005C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5172075" y="1590675"/>
            <a:ext cx="152400" cy="152400"/>
          </a:xfrm>
          <a:prstGeom prst="rect">
            <a:avLst/>
          </a:prstGeom>
          <a:solidFill>
            <a:srgbClr val="005C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6534150" y="1590675"/>
            <a:ext cx="152400" cy="152400"/>
          </a:xfrm>
          <a:prstGeom prst="rect">
            <a:avLst/>
          </a:prstGeom>
          <a:solidFill>
            <a:srgbClr val="005C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7896225" y="1590675"/>
            <a:ext cx="152400" cy="152400"/>
          </a:xfrm>
          <a:prstGeom prst="rect">
            <a:avLst/>
          </a:prstGeom>
          <a:solidFill>
            <a:srgbClr val="00A36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" name="Google Shape;133;p17"/>
          <p:cNvGrpSpPr/>
          <p:nvPr/>
        </p:nvGrpSpPr>
        <p:grpSpPr>
          <a:xfrm>
            <a:off x="571500" y="1885950"/>
            <a:ext cx="1190700" cy="1571700"/>
            <a:chOff x="571500" y="1885950"/>
            <a:chExt cx="1190700" cy="1571700"/>
          </a:xfrm>
        </p:grpSpPr>
        <p:sp>
          <p:nvSpPr>
            <p:cNvPr id="134" name="Google Shape;134;p17"/>
            <p:cNvSpPr/>
            <p:nvPr/>
          </p:nvSpPr>
          <p:spPr>
            <a:xfrm>
              <a:off x="571500" y="1885950"/>
              <a:ext cx="1190700" cy="157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5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571500" y="1885950"/>
              <a:ext cx="1190700" cy="28500"/>
            </a:xfrm>
            <a:prstGeom prst="rect">
              <a:avLst/>
            </a:prstGeom>
            <a:solidFill>
              <a:srgbClr val="1114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7"/>
            <p:cNvSpPr txBox="1"/>
            <p:nvPr/>
          </p:nvSpPr>
          <p:spPr>
            <a:xfrm>
              <a:off x="647700" y="1962150"/>
              <a:ext cx="10383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11141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01. RAW DATA</a:t>
              </a:r>
              <a:endParaRPr b="1" sz="800">
                <a:solidFill>
                  <a:srgbClr val="111418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11141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Ingestion</a:t>
              </a:r>
              <a:endParaRPr b="0" sz="950">
                <a:solidFill>
                  <a:srgbClr val="11141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rPr>
                <a:t>• Raw data inspection</a:t>
              </a:r>
              <a:endParaRPr b="0" sz="85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" sz="850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rPr>
                <a:t>• Merging tables via key IDs</a:t>
              </a:r>
              <a:endParaRPr b="0" sz="85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7" name="Google Shape;137;p17"/>
          <p:cNvGrpSpPr/>
          <p:nvPr/>
        </p:nvGrpSpPr>
        <p:grpSpPr>
          <a:xfrm>
            <a:off x="1933575" y="1885950"/>
            <a:ext cx="1190700" cy="1571700"/>
            <a:chOff x="1933575" y="1885950"/>
            <a:chExt cx="1190700" cy="1571700"/>
          </a:xfrm>
        </p:grpSpPr>
        <p:sp>
          <p:nvSpPr>
            <p:cNvPr id="138" name="Google Shape;138;p17"/>
            <p:cNvSpPr/>
            <p:nvPr/>
          </p:nvSpPr>
          <p:spPr>
            <a:xfrm>
              <a:off x="1933575" y="1885950"/>
              <a:ext cx="1190700" cy="157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5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>
              <a:off x="1933575" y="1885950"/>
              <a:ext cx="1190700" cy="285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7"/>
            <p:cNvSpPr txBox="1"/>
            <p:nvPr/>
          </p:nvSpPr>
          <p:spPr>
            <a:xfrm>
              <a:off x="2009775" y="1962150"/>
              <a:ext cx="10383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05CE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02. INSPECT</a:t>
              </a:r>
              <a:endParaRPr b="1" sz="800">
                <a:solidFill>
                  <a:srgbClr val="005CE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11141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Validation</a:t>
              </a:r>
              <a:endParaRPr b="0" sz="950">
                <a:solidFill>
                  <a:srgbClr val="11141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rPr>
                <a:t>• Data type casting</a:t>
              </a:r>
              <a:endParaRPr b="0" sz="85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" sz="850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rPr>
                <a:t>• Schema verification</a:t>
              </a:r>
              <a:endParaRPr b="0" sz="85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1" name="Google Shape;141;p17"/>
          <p:cNvGrpSpPr/>
          <p:nvPr/>
        </p:nvGrpSpPr>
        <p:grpSpPr>
          <a:xfrm>
            <a:off x="3295650" y="1885950"/>
            <a:ext cx="1190700" cy="1571700"/>
            <a:chOff x="3295650" y="1885950"/>
            <a:chExt cx="1190700" cy="1571700"/>
          </a:xfrm>
        </p:grpSpPr>
        <p:sp>
          <p:nvSpPr>
            <p:cNvPr id="142" name="Google Shape;142;p17"/>
            <p:cNvSpPr/>
            <p:nvPr/>
          </p:nvSpPr>
          <p:spPr>
            <a:xfrm>
              <a:off x="3295650" y="1885950"/>
              <a:ext cx="1190700" cy="157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5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7"/>
            <p:cNvSpPr/>
            <p:nvPr/>
          </p:nvSpPr>
          <p:spPr>
            <a:xfrm>
              <a:off x="3295650" y="1885950"/>
              <a:ext cx="1190700" cy="285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7"/>
            <p:cNvSpPr txBox="1"/>
            <p:nvPr/>
          </p:nvSpPr>
          <p:spPr>
            <a:xfrm>
              <a:off x="3371850" y="1962150"/>
              <a:ext cx="10383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05CE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03. CLEANING</a:t>
              </a:r>
              <a:endParaRPr b="1" sz="800">
                <a:solidFill>
                  <a:srgbClr val="005CE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11141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Imputation</a:t>
              </a:r>
              <a:endParaRPr b="0" sz="950">
                <a:solidFill>
                  <a:srgbClr val="11141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rPr>
                <a:t>• Handling missing values</a:t>
              </a:r>
              <a:endParaRPr b="0" sz="85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" sz="850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rPr>
                <a:t>• Zero duplicate rows</a:t>
              </a:r>
              <a:endParaRPr b="0" sz="85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5" name="Google Shape;145;p17"/>
          <p:cNvGrpSpPr/>
          <p:nvPr/>
        </p:nvGrpSpPr>
        <p:grpSpPr>
          <a:xfrm>
            <a:off x="4657725" y="1885950"/>
            <a:ext cx="1190700" cy="1571700"/>
            <a:chOff x="4657725" y="1885950"/>
            <a:chExt cx="1190700" cy="1571700"/>
          </a:xfrm>
        </p:grpSpPr>
        <p:sp>
          <p:nvSpPr>
            <p:cNvPr id="146" name="Google Shape;146;p17"/>
            <p:cNvSpPr/>
            <p:nvPr/>
          </p:nvSpPr>
          <p:spPr>
            <a:xfrm>
              <a:off x="4657725" y="1885950"/>
              <a:ext cx="1190700" cy="157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5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4657725" y="1885950"/>
              <a:ext cx="1190700" cy="285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4733925" y="1962150"/>
              <a:ext cx="10383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05CE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04. FEATURE ENG.</a:t>
              </a:r>
              <a:endParaRPr b="1" sz="800">
                <a:solidFill>
                  <a:srgbClr val="005CE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11141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Scaling</a:t>
              </a:r>
              <a:endParaRPr b="0" sz="950">
                <a:solidFill>
                  <a:srgbClr val="11141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rPr>
                <a:t>• Feature scaling for clustering</a:t>
              </a:r>
              <a:endParaRPr b="0" sz="85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" sz="850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rPr>
                <a:t>• Numeric normalization</a:t>
              </a:r>
              <a:endParaRPr b="0" sz="85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9" name="Google Shape;149;p17"/>
          <p:cNvGrpSpPr/>
          <p:nvPr/>
        </p:nvGrpSpPr>
        <p:grpSpPr>
          <a:xfrm>
            <a:off x="6019800" y="1885950"/>
            <a:ext cx="1190700" cy="1571700"/>
            <a:chOff x="6019800" y="1885950"/>
            <a:chExt cx="1190700" cy="1571700"/>
          </a:xfrm>
        </p:grpSpPr>
        <p:sp>
          <p:nvSpPr>
            <p:cNvPr id="150" name="Google Shape;150;p17"/>
            <p:cNvSpPr/>
            <p:nvPr/>
          </p:nvSpPr>
          <p:spPr>
            <a:xfrm>
              <a:off x="6019800" y="1885950"/>
              <a:ext cx="1190700" cy="157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5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6019800" y="1885950"/>
              <a:ext cx="1190700" cy="285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7"/>
            <p:cNvSpPr txBox="1"/>
            <p:nvPr/>
          </p:nvSpPr>
          <p:spPr>
            <a:xfrm>
              <a:off x="6096000" y="1962150"/>
              <a:ext cx="10383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05CE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05. TRANSFORM</a:t>
              </a:r>
              <a:endParaRPr b="1" sz="800">
                <a:solidFill>
                  <a:srgbClr val="005CE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11141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Encoding</a:t>
              </a:r>
              <a:endParaRPr b="0" sz="950">
                <a:solidFill>
                  <a:srgbClr val="11141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rPr>
                <a:t>• Text prep for NLP</a:t>
              </a:r>
              <a:endParaRPr b="0" sz="85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" sz="850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rPr>
                <a:t>• Timestamp encoding</a:t>
              </a:r>
              <a:endParaRPr b="0" sz="85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3" name="Google Shape;153;p17"/>
          <p:cNvGrpSpPr/>
          <p:nvPr/>
        </p:nvGrpSpPr>
        <p:grpSpPr>
          <a:xfrm>
            <a:off x="7381875" y="1885950"/>
            <a:ext cx="1190700" cy="1571700"/>
            <a:chOff x="7381875" y="1885950"/>
            <a:chExt cx="1190700" cy="1571700"/>
          </a:xfrm>
        </p:grpSpPr>
        <p:sp>
          <p:nvSpPr>
            <p:cNvPr id="154" name="Google Shape;154;p17"/>
            <p:cNvSpPr/>
            <p:nvPr/>
          </p:nvSpPr>
          <p:spPr>
            <a:xfrm>
              <a:off x="7381875" y="1885950"/>
              <a:ext cx="1190700" cy="1571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5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7381875" y="1885950"/>
              <a:ext cx="1190700" cy="28500"/>
            </a:xfrm>
            <a:prstGeom prst="rect">
              <a:avLst/>
            </a:prstGeom>
            <a:solidFill>
              <a:srgbClr val="00A36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7"/>
            <p:cNvSpPr txBox="1"/>
            <p:nvPr/>
          </p:nvSpPr>
          <p:spPr>
            <a:xfrm>
              <a:off x="7458075" y="1962150"/>
              <a:ext cx="10383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0A36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06. MODEL-READY</a:t>
              </a:r>
              <a:endParaRPr b="1" sz="800">
                <a:solidFill>
                  <a:srgbClr val="00A36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11141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Final Output</a:t>
              </a:r>
              <a:endParaRPr b="0" sz="950">
                <a:solidFill>
                  <a:srgbClr val="11141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rPr>
                <a:t>• Integrated dataset</a:t>
              </a:r>
              <a:endParaRPr b="0" sz="85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" sz="850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rPr>
                <a:t>• Complete by Day 6</a:t>
              </a:r>
              <a:endParaRPr b="0" sz="85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7" name="Google Shape;157;p17"/>
          <p:cNvGrpSpPr/>
          <p:nvPr/>
        </p:nvGrpSpPr>
        <p:grpSpPr>
          <a:xfrm>
            <a:off x="571500" y="3619500"/>
            <a:ext cx="8001000" cy="1143000"/>
            <a:chOff x="571500" y="3619500"/>
            <a:chExt cx="8001000" cy="1143000"/>
          </a:xfrm>
        </p:grpSpPr>
        <p:sp>
          <p:nvSpPr>
            <p:cNvPr id="158" name="Google Shape;158;p17"/>
            <p:cNvSpPr/>
            <p:nvPr/>
          </p:nvSpPr>
          <p:spPr>
            <a:xfrm>
              <a:off x="571500" y="3619500"/>
              <a:ext cx="2476500" cy="1143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5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571500" y="3619500"/>
              <a:ext cx="2476500" cy="285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7"/>
            <p:cNvSpPr txBox="1"/>
            <p:nvPr/>
          </p:nvSpPr>
          <p:spPr>
            <a:xfrm>
              <a:off x="714375" y="3733800"/>
              <a:ext cx="2190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900">
                  <a:solidFill>
                    <a:srgbClr val="005CE6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INTEGRATED DATASET SIZE</a:t>
              </a:r>
              <a:endParaRPr b="0" sz="900">
                <a:solidFill>
                  <a:srgbClr val="005CE6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714375" y="3943350"/>
              <a:ext cx="2190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1" lang="en" sz="2600">
                  <a:solidFill>
                    <a:srgbClr val="11141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3,000</a:t>
              </a:r>
              <a:endParaRPr b="1" sz="2600">
                <a:solidFill>
                  <a:srgbClr val="111418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62" name="Google Shape;162;p17"/>
            <p:cNvSpPr txBox="1"/>
            <p:nvPr/>
          </p:nvSpPr>
          <p:spPr>
            <a:xfrm>
              <a:off x="714375" y="4400550"/>
              <a:ext cx="2190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950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rPr>
                <a:t>Clean, model-ready records</a:t>
              </a:r>
              <a:endParaRPr b="0" sz="95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3333750" y="3619500"/>
              <a:ext cx="2476500" cy="1143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5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3333750" y="3619500"/>
              <a:ext cx="2476500" cy="285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7"/>
            <p:cNvSpPr txBox="1"/>
            <p:nvPr/>
          </p:nvSpPr>
          <p:spPr>
            <a:xfrm>
              <a:off x="3476625" y="3733800"/>
              <a:ext cx="2190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900">
                  <a:solidFill>
                    <a:srgbClr val="005CE6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TOTAL FEATURE COLUMNS</a:t>
              </a:r>
              <a:endParaRPr b="0" sz="900">
                <a:solidFill>
                  <a:srgbClr val="005CE6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sp>
          <p:nvSpPr>
            <p:cNvPr id="166" name="Google Shape;166;p17"/>
            <p:cNvSpPr txBox="1"/>
            <p:nvPr/>
          </p:nvSpPr>
          <p:spPr>
            <a:xfrm>
              <a:off x="3476625" y="3943350"/>
              <a:ext cx="2190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1" lang="en" sz="2600">
                  <a:solidFill>
                    <a:srgbClr val="11141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26</a:t>
              </a:r>
              <a:endParaRPr b="1" sz="2600">
                <a:solidFill>
                  <a:srgbClr val="111418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67" name="Google Shape;167;p17"/>
            <p:cNvSpPr txBox="1"/>
            <p:nvPr/>
          </p:nvSpPr>
          <p:spPr>
            <a:xfrm>
              <a:off x="3476625" y="4400550"/>
              <a:ext cx="2190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950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rPr>
                <a:t>Engineered &amp; transformed variables</a:t>
              </a:r>
              <a:endParaRPr b="0" sz="95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8" name="Google Shape;168;p17"/>
            <p:cNvSpPr/>
            <p:nvPr/>
          </p:nvSpPr>
          <p:spPr>
            <a:xfrm>
              <a:off x="6096000" y="3619500"/>
              <a:ext cx="2476500" cy="1143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5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6096000" y="3619500"/>
              <a:ext cx="2476500" cy="28500"/>
            </a:xfrm>
            <a:prstGeom prst="rect">
              <a:avLst/>
            </a:prstGeom>
            <a:solidFill>
              <a:srgbClr val="00A36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7"/>
            <p:cNvSpPr txBox="1"/>
            <p:nvPr/>
          </p:nvSpPr>
          <p:spPr>
            <a:xfrm>
              <a:off x="6238875" y="3733800"/>
              <a:ext cx="2190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900">
                  <a:solidFill>
                    <a:srgbClr val="00A36C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DUPLICATE ROWS VERIFIED</a:t>
              </a:r>
              <a:endParaRPr b="0" sz="900">
                <a:solidFill>
                  <a:srgbClr val="00A36C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sp>
          <p:nvSpPr>
            <p:cNvPr id="171" name="Google Shape;171;p17"/>
            <p:cNvSpPr txBox="1"/>
            <p:nvPr/>
          </p:nvSpPr>
          <p:spPr>
            <a:xfrm>
              <a:off x="6238875" y="3943350"/>
              <a:ext cx="2190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1" lang="en" sz="2600">
                  <a:solidFill>
                    <a:srgbClr val="00A36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</a:t>
              </a:r>
              <a:endParaRPr b="1" sz="2600">
                <a:solidFill>
                  <a:srgbClr val="00A36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72" name="Google Shape;172;p17"/>
            <p:cNvSpPr txBox="1"/>
            <p:nvPr/>
          </p:nvSpPr>
          <p:spPr>
            <a:xfrm>
              <a:off x="6238875" y="4400550"/>
              <a:ext cx="2190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950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rPr>
                <a:t>Zero redundancy milestone by Day 6</a:t>
              </a:r>
              <a:endParaRPr b="0" sz="95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1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78" name="Google Shape;178;p1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5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9" name="Google Shape;179;p18"/>
            <p:cNvGrpSpPr/>
            <p:nvPr/>
          </p:nvGrpSpPr>
          <p:grpSpPr>
            <a:xfrm>
              <a:off x="7143750" y="381000"/>
              <a:ext cx="1733700" cy="247650"/>
              <a:chOff x="0" y="0"/>
              <a:chExt cx="1733700" cy="247650"/>
            </a:xfrm>
          </p:grpSpPr>
          <p:sp>
            <p:nvSpPr>
              <p:cNvPr id="180" name="Google Shape;180;p18"/>
              <p:cNvSpPr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solidFill>
                <a:srgbClr val="005CE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8"/>
              <p:cNvSpPr txBox="1"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OI</a:t>
                </a:r>
                <a:endParaRPr b="1" sz="12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82" name="Google Shape;182;p18"/>
              <p:cNvSpPr txBox="1"/>
              <p:nvPr/>
            </p:nvSpPr>
            <p:spPr>
              <a:xfrm>
                <a:off x="304800" y="19050"/>
                <a:ext cx="1428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11418"/>
                    </a:solidFill>
                    <a:latin typeface="Inter"/>
                    <a:ea typeface="Inter"/>
                    <a:cs typeface="Inter"/>
                    <a:sym typeface="Inter"/>
                  </a:rPr>
                  <a:t>UBER EATS</a:t>
                </a:r>
                <a:endParaRPr b="1" sz="10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183" name="Google Shape;183;p18"/>
            <p:cNvSpPr txBox="1"/>
            <p:nvPr/>
          </p:nvSpPr>
          <p:spPr>
            <a:xfrm>
              <a:off x="571500" y="381000"/>
              <a:ext cx="619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750"/>
                </a:spcAft>
                <a:buNone/>
              </a:pPr>
              <a:r>
                <a:rPr b="1" lang="en" sz="18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Unsupervised Machine Learning – Segmentation</a:t>
              </a:r>
              <a:endParaRPr b="1" sz="18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84" name="Google Shape;184;p18"/>
            <p:cNvCxnSpPr/>
            <p:nvPr/>
          </p:nvCxnSpPr>
          <p:spPr>
            <a:xfrm>
              <a:off x="571500" y="85725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11418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5" name="Google Shape;185;p18"/>
          <p:cNvSpPr/>
          <p:nvPr/>
        </p:nvSpPr>
        <p:spPr>
          <a:xfrm>
            <a:off x="571500" y="1000125"/>
            <a:ext cx="8001000" cy="476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571500" y="1000125"/>
            <a:ext cx="38100" cy="476400"/>
          </a:xfrm>
          <a:prstGeom prst="rect">
            <a:avLst/>
          </a:prstGeom>
          <a:solidFill>
            <a:srgbClr val="11141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714375" y="1066800"/>
            <a:ext cx="7715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50"/>
              </a:spcAft>
              <a:buNone/>
            </a:pPr>
            <a:r>
              <a:rPr b="1" lang="en" sz="100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rPr>
              <a:t>Objective:</a:t>
            </a:r>
            <a:r>
              <a:rPr b="0" lang="en" sz="100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rPr>
              <a:t> Apply unsupervised learning to segment customers (total orders, frequency, spending, AOV, late-night habits) and restaurants (performance and operational attributes) to identify distinct behavioral groups.</a:t>
            </a:r>
            <a:endParaRPr b="0" sz="1000">
              <a:solidFill>
                <a:srgbClr val="5C66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88" name="Google Shape;188;p18"/>
          <p:cNvGrpSpPr/>
          <p:nvPr/>
        </p:nvGrpSpPr>
        <p:grpSpPr>
          <a:xfrm>
            <a:off x="571500" y="1619250"/>
            <a:ext cx="8000925" cy="3143400"/>
            <a:chOff x="571500" y="1619250"/>
            <a:chExt cx="8000925" cy="3143400"/>
          </a:xfrm>
        </p:grpSpPr>
        <p:sp>
          <p:nvSpPr>
            <p:cNvPr id="189" name="Google Shape;189;p18"/>
            <p:cNvSpPr/>
            <p:nvPr/>
          </p:nvSpPr>
          <p:spPr>
            <a:xfrm>
              <a:off x="571500" y="1619250"/>
              <a:ext cx="3762300" cy="3143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5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571500" y="1619250"/>
              <a:ext cx="3762300" cy="381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8"/>
            <p:cNvSpPr txBox="1"/>
            <p:nvPr/>
          </p:nvSpPr>
          <p:spPr>
            <a:xfrm>
              <a:off x="762000" y="1790700"/>
              <a:ext cx="3381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750"/>
                </a:spcAft>
                <a:buNone/>
              </a:pPr>
              <a:r>
                <a:rPr b="1" lang="en" sz="1000">
                  <a:solidFill>
                    <a:srgbClr val="005CE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K-Means Clustering</a:t>
              </a:r>
              <a:endParaRPr b="1" sz="1000">
                <a:solidFill>
                  <a:srgbClr val="005CE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92" name="Google Shape;192;p18"/>
            <p:cNvSpPr txBox="1"/>
            <p:nvPr/>
          </p:nvSpPr>
          <p:spPr>
            <a:xfrm>
              <a:off x="762000" y="2143125"/>
              <a:ext cx="33813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Centroid-based algorithmic approach for spherical cluster identification across high-dimensional feature spaces.</a:t>
              </a:r>
              <a:endParaRPr b="0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111418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Cluster Optimization:</a:t>
              </a:r>
              <a:r>
                <a:rPr b="0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Utilizes the Elbow Method to evaluate inertia and determine optimal predefined cluster counts (k).</a:t>
              </a:r>
              <a:endParaRPr b="0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111418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Customer Metrics:</a:t>
              </a:r>
              <a:r>
                <a:rPr b="0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Segments profiles using total order volume, order frequency, total spending, and average order value (AOV).</a:t>
              </a:r>
              <a:endParaRPr b="0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750"/>
                </a:spcAft>
                <a:buClr>
                  <a:srgbClr val="111418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Restaurant Grouping:</a:t>
              </a:r>
              <a:r>
                <a:rPr b="0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Groups venues according to operational efficiency, fulfillment rates, and performance tiers.</a:t>
              </a:r>
              <a:endParaRPr b="0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93" name="Google Shape;193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67238" y="1619250"/>
              <a:ext cx="9600" cy="3143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" name="Google Shape;194;p18"/>
            <p:cNvSpPr/>
            <p:nvPr/>
          </p:nvSpPr>
          <p:spPr>
            <a:xfrm>
              <a:off x="4810125" y="1619250"/>
              <a:ext cx="3762300" cy="3143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5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8"/>
            <p:cNvSpPr/>
            <p:nvPr/>
          </p:nvSpPr>
          <p:spPr>
            <a:xfrm>
              <a:off x="4810125" y="1619250"/>
              <a:ext cx="3762300" cy="38100"/>
            </a:xfrm>
            <a:prstGeom prst="rect">
              <a:avLst/>
            </a:prstGeom>
            <a:solidFill>
              <a:srgbClr val="00A36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8"/>
            <p:cNvSpPr txBox="1"/>
            <p:nvPr/>
          </p:nvSpPr>
          <p:spPr>
            <a:xfrm>
              <a:off x="5000625" y="1790700"/>
              <a:ext cx="3381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750"/>
                </a:spcAft>
                <a:buNone/>
              </a:pPr>
              <a:r>
                <a:rPr b="1" lang="en" sz="1000">
                  <a:solidFill>
                    <a:srgbClr val="00A36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DBSCAN Clustering</a:t>
              </a:r>
              <a:endParaRPr b="1" sz="1000">
                <a:solidFill>
                  <a:srgbClr val="00A36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97" name="Google Shape;197;p18"/>
            <p:cNvSpPr txBox="1"/>
            <p:nvPr/>
          </p:nvSpPr>
          <p:spPr>
            <a:xfrm>
              <a:off x="5000625" y="2143125"/>
              <a:ext cx="33813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Density-based spatial clustering technique designed to uncover arbitrary shapes and eliminate outliers.</a:t>
              </a:r>
              <a:endParaRPr b="0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111418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Parameter Flexibility:</a:t>
              </a:r>
              <a:r>
                <a:rPr b="0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Operates on spatial density, eliminating the requirement for predefined cluster counts.</a:t>
              </a:r>
              <a:endParaRPr b="0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111418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Noise Detection:</a:t>
              </a:r>
              <a:r>
                <a:rPr b="0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Effectively isolates extreme behavioral anomalies, irregular late-night order spikes, and outlier operational attributes.</a:t>
              </a:r>
              <a:endParaRPr b="0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750"/>
                </a:spcAft>
                <a:buClr>
                  <a:srgbClr val="111418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Behavioral Discovery:</a:t>
              </a:r>
              <a:r>
                <a:rPr b="0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Uncovers continuous, non-linear patterns in customer spending and restaurant usage habits.</a:t>
              </a:r>
              <a:endParaRPr b="0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19"/>
          <p:cNvGrpSpPr/>
          <p:nvPr/>
        </p:nvGrpSpPr>
        <p:grpSpPr>
          <a:xfrm>
            <a:off x="6953250" y="381000"/>
            <a:ext cx="1638300" cy="247650"/>
            <a:chOff x="0" y="0"/>
            <a:chExt cx="1638300" cy="247650"/>
          </a:xfrm>
        </p:grpSpPr>
        <p:sp>
          <p:nvSpPr>
            <p:cNvPr id="203" name="Google Shape;203;p19"/>
            <p:cNvSpPr/>
            <p:nvPr/>
          </p:nvSpPr>
          <p:spPr>
            <a:xfrm>
              <a:off x="0" y="0"/>
              <a:ext cx="228600" cy="2286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9"/>
            <p:cNvSpPr txBox="1"/>
            <p:nvPr/>
          </p:nvSpPr>
          <p:spPr>
            <a:xfrm>
              <a:off x="0" y="0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OI</a:t>
              </a:r>
              <a:endParaRPr b="1"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05" name="Google Shape;205;p19"/>
            <p:cNvSpPr txBox="1"/>
            <p:nvPr/>
          </p:nvSpPr>
          <p:spPr>
            <a:xfrm>
              <a:off x="304800" y="19050"/>
              <a:ext cx="1333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UBER EATS</a:t>
              </a:r>
              <a:endParaRPr b="1" sz="10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06" name="Google Shape;206;p19"/>
          <p:cNvSpPr txBox="1"/>
          <p:nvPr/>
        </p:nvSpPr>
        <p:spPr>
          <a:xfrm>
            <a:off x="571500" y="381000"/>
            <a:ext cx="6191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1" lang="en" sz="18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Visualizing and Understanding Clusters</a:t>
            </a:r>
            <a:endParaRPr b="1" sz="180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07" name="Google Shape;207;p19"/>
          <p:cNvCxnSpPr/>
          <p:nvPr/>
        </p:nvCxnSpPr>
        <p:spPr>
          <a:xfrm>
            <a:off x="571500" y="857250"/>
            <a:ext cx="80010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114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19"/>
          <p:cNvSpPr txBox="1"/>
          <p:nvPr/>
        </p:nvSpPr>
        <p:spPr>
          <a:xfrm>
            <a:off x="571500" y="1095375"/>
            <a:ext cx="4286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0" lang="en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Principal Component Analysis (PCA) is utilized for dimensionality reduction, allowing us to project high-dimensional customer and restaurant data into a 2D visual space.</a:t>
            </a:r>
            <a:endParaRPr b="0" sz="110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571500" y="2143125"/>
            <a:ext cx="4286400" cy="1428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571500" y="2143125"/>
            <a:ext cx="38100" cy="1428900"/>
          </a:xfrm>
          <a:prstGeom prst="rect">
            <a:avLst/>
          </a:prstGeom>
          <a:solidFill>
            <a:srgbClr val="005C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762000" y="2286000"/>
            <a:ext cx="395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5CE6"/>
                </a:solidFill>
                <a:latin typeface="Inter"/>
                <a:ea typeface="Inter"/>
                <a:cs typeface="Inter"/>
                <a:sym typeface="Inter"/>
              </a:rPr>
              <a:t>Customer Segments:</a:t>
            </a:r>
            <a:r>
              <a:rPr b="0" lang="en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 Interpreting these clusters helps us identify high-value customer segments and distinct engagement patterns.</a:t>
            </a:r>
            <a:endParaRPr b="0" sz="110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b="1" lang="en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Restaurant Targets:</a:t>
            </a:r>
            <a:r>
              <a:rPr b="0" lang="en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 For restaurants, this visualization highlights specific operational intervention targets.</a:t>
            </a:r>
            <a:endParaRPr b="0" sz="110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571500" y="3762375"/>
            <a:ext cx="42864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1" lang="en" sz="10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Cluster Validation:</a:t>
            </a:r>
            <a:r>
              <a:rPr b="0" lang="en" sz="100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rPr>
              <a:t> Silhouette scores and detailed profile metrics are used to validate the distinctness and business value of each cluster.</a:t>
            </a:r>
            <a:endParaRPr b="0" sz="1000">
              <a:solidFill>
                <a:srgbClr val="5C66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3" name="Google Shape;21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0" y="1047750"/>
            <a:ext cx="3333900" cy="33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9" name="Google Shape;219;p20"/>
          <p:cNvGrpSpPr/>
          <p:nvPr/>
        </p:nvGrpSpPr>
        <p:grpSpPr>
          <a:xfrm>
            <a:off x="7143750" y="381000"/>
            <a:ext cx="1733700" cy="247650"/>
            <a:chOff x="0" y="0"/>
            <a:chExt cx="1733700" cy="247650"/>
          </a:xfrm>
        </p:grpSpPr>
        <p:sp>
          <p:nvSpPr>
            <p:cNvPr id="220" name="Google Shape;220;p20"/>
            <p:cNvSpPr/>
            <p:nvPr/>
          </p:nvSpPr>
          <p:spPr>
            <a:xfrm>
              <a:off x="0" y="0"/>
              <a:ext cx="228600" cy="2286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0"/>
            <p:cNvSpPr txBox="1"/>
            <p:nvPr/>
          </p:nvSpPr>
          <p:spPr>
            <a:xfrm>
              <a:off x="0" y="0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OI</a:t>
              </a:r>
              <a:endParaRPr b="1"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22" name="Google Shape;222;p20"/>
            <p:cNvSpPr txBox="1"/>
            <p:nvPr/>
          </p:nvSpPr>
          <p:spPr>
            <a:xfrm>
              <a:off x="304800" y="19050"/>
              <a:ext cx="1428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UBER EATS</a:t>
              </a:r>
              <a:endParaRPr b="1" sz="10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23" name="Google Shape;223;p20"/>
          <p:cNvSpPr txBox="1"/>
          <p:nvPr/>
        </p:nvSpPr>
        <p:spPr>
          <a:xfrm>
            <a:off x="571500" y="381000"/>
            <a:ext cx="6191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1" lang="en" sz="153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Natural Language Processing – Customer Feedback Analysis</a:t>
            </a:r>
            <a:endParaRPr b="1" sz="153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24" name="Google Shape;224;p20"/>
          <p:cNvCxnSpPr/>
          <p:nvPr/>
        </p:nvCxnSpPr>
        <p:spPr>
          <a:xfrm>
            <a:off x="571500" y="857250"/>
            <a:ext cx="80010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11418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5" name="Google Shape;225;p20"/>
          <p:cNvGrpSpPr/>
          <p:nvPr/>
        </p:nvGrpSpPr>
        <p:grpSpPr>
          <a:xfrm>
            <a:off x="571500" y="1143000"/>
            <a:ext cx="3810000" cy="3619500"/>
            <a:chOff x="0" y="0"/>
            <a:chExt cx="3810000" cy="3619500"/>
          </a:xfrm>
        </p:grpSpPr>
        <p:sp>
          <p:nvSpPr>
            <p:cNvPr id="226" name="Google Shape;226;p20"/>
            <p:cNvSpPr/>
            <p:nvPr/>
          </p:nvSpPr>
          <p:spPr>
            <a:xfrm>
              <a:off x="0" y="0"/>
              <a:ext cx="3810000" cy="3619500"/>
            </a:xfrm>
            <a:prstGeom prst="roundRect">
              <a:avLst>
                <a:gd fmla="val 0" name="adj"/>
              </a:avLst>
            </a:prstGeom>
            <a:solidFill>
              <a:srgbClr val="FFFFFF"/>
            </a:solidFill>
            <a:ln cap="flat" cmpd="sng" w="9525">
              <a:solidFill>
                <a:srgbClr val="D0D5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0"/>
            <p:cNvSpPr/>
            <p:nvPr/>
          </p:nvSpPr>
          <p:spPr>
            <a:xfrm>
              <a:off x="0" y="0"/>
              <a:ext cx="3810000" cy="381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0"/>
            <p:cNvSpPr txBox="1"/>
            <p:nvPr/>
          </p:nvSpPr>
          <p:spPr>
            <a:xfrm>
              <a:off x="228600" y="228600"/>
              <a:ext cx="3352800" cy="31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We analyze </a:t>
              </a:r>
              <a:r>
                <a:rPr b="1" lang="en" sz="12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3,000 customer reviews</a:t>
              </a:r>
              <a:r>
                <a:rPr b="0" lang="en" sz="12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to understand sentiment and uncover drivers of satisfaction and recurring complaints.</a:t>
              </a:r>
              <a:endParaRPr b="0" sz="12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11418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NLP WORKFLOW PIPELINE</a:t>
              </a:r>
              <a:endParaRPr b="0" sz="1000">
                <a:solidFill>
                  <a:srgbClr val="111418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Text Preprocessing:</a:t>
              </a:r>
              <a:r>
                <a:rPr b="0" lang="en" sz="12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Cleaning, normalization, tokenization, and TF-IDF vectorization.</a:t>
              </a:r>
              <a:endParaRPr b="0" sz="12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Model Evaluation:</a:t>
              </a:r>
              <a:r>
                <a:rPr b="0" lang="en" sz="12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Benchmarked Naive Bayes, Support Vector Machine (SVM), and VADER sentiment analysis.</a:t>
              </a:r>
              <a:endParaRPr b="0" sz="12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1" lang="en" sz="12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Key Insight:</a:t>
              </a:r>
              <a:r>
                <a:rPr b="0" lang="en" sz="12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Clear sentiment distribution provides a structured view of overall service performance.</a:t>
              </a:r>
              <a:endParaRPr b="0" sz="12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9" name="Google Shape;229;p20"/>
          <p:cNvGrpSpPr/>
          <p:nvPr/>
        </p:nvGrpSpPr>
        <p:grpSpPr>
          <a:xfrm>
            <a:off x="4762500" y="1143000"/>
            <a:ext cx="3810000" cy="3619500"/>
            <a:chOff x="0" y="0"/>
            <a:chExt cx="3810000" cy="3619500"/>
          </a:xfrm>
        </p:grpSpPr>
        <p:sp>
          <p:nvSpPr>
            <p:cNvPr id="230" name="Google Shape;230;p20"/>
            <p:cNvSpPr/>
            <p:nvPr/>
          </p:nvSpPr>
          <p:spPr>
            <a:xfrm>
              <a:off x="0" y="0"/>
              <a:ext cx="3810000" cy="3619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5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0"/>
            <p:cNvSpPr/>
            <p:nvPr/>
          </p:nvSpPr>
          <p:spPr>
            <a:xfrm>
              <a:off x="0" y="0"/>
              <a:ext cx="3810000" cy="38100"/>
            </a:xfrm>
            <a:prstGeom prst="rect">
              <a:avLst/>
            </a:prstGeom>
            <a:solidFill>
              <a:srgbClr val="1114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0"/>
            <p:cNvSpPr txBox="1"/>
            <p:nvPr/>
          </p:nvSpPr>
          <p:spPr>
            <a:xfrm>
              <a:off x="228600" y="190500"/>
              <a:ext cx="3352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1100">
                  <a:solidFill>
                    <a:srgbClr val="111418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SENTIMENT DISTRIBUTION (N=3,000)</a:t>
              </a:r>
              <a:endParaRPr b="0" sz="1100">
                <a:solidFill>
                  <a:srgbClr val="111418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cxnSp>
          <p:nvCxnSpPr>
            <p:cNvPr id="233" name="Google Shape;233;p20"/>
            <p:cNvCxnSpPr/>
            <p:nvPr/>
          </p:nvCxnSpPr>
          <p:spPr>
            <a:xfrm>
              <a:off x="285750" y="2952750"/>
              <a:ext cx="32385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11418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34" name="Google Shape;234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85750" y="2185988"/>
              <a:ext cx="32385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85750" y="1423988"/>
              <a:ext cx="32385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" name="Google Shape;236;p20"/>
            <p:cNvSpPr/>
            <p:nvPr/>
          </p:nvSpPr>
          <p:spPr>
            <a:xfrm>
              <a:off x="523875" y="1276350"/>
              <a:ext cx="666900" cy="1676400"/>
            </a:xfrm>
            <a:prstGeom prst="rect">
              <a:avLst/>
            </a:prstGeom>
            <a:solidFill>
              <a:srgbClr val="00A36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0"/>
            <p:cNvSpPr txBox="1"/>
            <p:nvPr/>
          </p:nvSpPr>
          <p:spPr>
            <a:xfrm>
              <a:off x="381000" y="990600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lang="en" sz="1000">
                  <a:solidFill>
                    <a:srgbClr val="11141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1,766</a:t>
              </a:r>
              <a:endParaRPr b="1" sz="1000">
                <a:solidFill>
                  <a:srgbClr val="111418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38" name="Google Shape;238;p20"/>
            <p:cNvSpPr txBox="1"/>
            <p:nvPr/>
          </p:nvSpPr>
          <p:spPr>
            <a:xfrm>
              <a:off x="381000" y="3067050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1000">
                  <a:solidFill>
                    <a:srgbClr val="5C6670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POSITIVE</a:t>
              </a:r>
              <a:endParaRPr b="0" sz="1000">
                <a:solidFill>
                  <a:srgbClr val="5C6670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sp>
          <p:nvSpPr>
            <p:cNvPr id="239" name="Google Shape;239;p20"/>
            <p:cNvSpPr/>
            <p:nvPr/>
          </p:nvSpPr>
          <p:spPr>
            <a:xfrm>
              <a:off x="1571625" y="2209800"/>
              <a:ext cx="666900" cy="743100"/>
            </a:xfrm>
            <a:prstGeom prst="rect">
              <a:avLst/>
            </a:prstGeom>
            <a:solidFill>
              <a:srgbClr val="1114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0"/>
            <p:cNvSpPr txBox="1"/>
            <p:nvPr/>
          </p:nvSpPr>
          <p:spPr>
            <a:xfrm>
              <a:off x="1428750" y="1924050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lang="en" sz="1000">
                  <a:solidFill>
                    <a:srgbClr val="11141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779</a:t>
              </a:r>
              <a:endParaRPr b="1" sz="1000">
                <a:solidFill>
                  <a:srgbClr val="111418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41" name="Google Shape;241;p20"/>
            <p:cNvSpPr txBox="1"/>
            <p:nvPr/>
          </p:nvSpPr>
          <p:spPr>
            <a:xfrm>
              <a:off x="1428750" y="3067050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1000">
                  <a:solidFill>
                    <a:srgbClr val="5C6670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NEGATIVE</a:t>
              </a:r>
              <a:endParaRPr b="0" sz="1000">
                <a:solidFill>
                  <a:srgbClr val="5C6670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sp>
          <p:nvSpPr>
            <p:cNvPr id="242" name="Google Shape;242;p20"/>
            <p:cNvSpPr/>
            <p:nvPr/>
          </p:nvSpPr>
          <p:spPr>
            <a:xfrm>
              <a:off x="2619375" y="2524125"/>
              <a:ext cx="666900" cy="428700"/>
            </a:xfrm>
            <a:prstGeom prst="rect">
              <a:avLst/>
            </a:prstGeom>
            <a:solidFill>
              <a:srgbClr val="5C667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0"/>
            <p:cNvSpPr txBox="1"/>
            <p:nvPr/>
          </p:nvSpPr>
          <p:spPr>
            <a:xfrm>
              <a:off x="2476500" y="2238375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lang="en" sz="1000">
                  <a:solidFill>
                    <a:srgbClr val="11141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455</a:t>
              </a:r>
              <a:endParaRPr b="1" sz="1000">
                <a:solidFill>
                  <a:srgbClr val="111418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44" name="Google Shape;244;p20"/>
            <p:cNvSpPr txBox="1"/>
            <p:nvPr/>
          </p:nvSpPr>
          <p:spPr>
            <a:xfrm>
              <a:off x="2476500" y="3067050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1000">
                  <a:solidFill>
                    <a:srgbClr val="5C6670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NEUTRAL</a:t>
              </a:r>
              <a:endParaRPr b="0" sz="1000">
                <a:solidFill>
                  <a:srgbClr val="5C6670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2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50" name="Google Shape;250;p21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5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1" name="Google Shape;251;p21"/>
            <p:cNvGrpSpPr/>
            <p:nvPr/>
          </p:nvGrpSpPr>
          <p:grpSpPr>
            <a:xfrm>
              <a:off x="7143750" y="381000"/>
              <a:ext cx="1733700" cy="247650"/>
              <a:chOff x="0" y="0"/>
              <a:chExt cx="1733700" cy="247650"/>
            </a:xfrm>
          </p:grpSpPr>
          <p:sp>
            <p:nvSpPr>
              <p:cNvPr id="252" name="Google Shape;252;p21"/>
              <p:cNvSpPr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solidFill>
                <a:srgbClr val="005CE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21"/>
              <p:cNvSpPr txBox="1"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OI</a:t>
                </a:r>
                <a:endParaRPr b="1" sz="12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254" name="Google Shape;254;p21"/>
              <p:cNvSpPr txBox="1"/>
              <p:nvPr/>
            </p:nvSpPr>
            <p:spPr>
              <a:xfrm>
                <a:off x="304800" y="19050"/>
                <a:ext cx="1428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11418"/>
                    </a:solidFill>
                    <a:latin typeface="Inter"/>
                    <a:ea typeface="Inter"/>
                    <a:cs typeface="Inter"/>
                    <a:sym typeface="Inter"/>
                  </a:rPr>
                  <a:t>UBER EATS</a:t>
                </a:r>
                <a:endParaRPr b="1" sz="10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55" name="Google Shape;255;p21"/>
            <p:cNvSpPr txBox="1"/>
            <p:nvPr/>
          </p:nvSpPr>
          <p:spPr>
            <a:xfrm>
              <a:off x="571500" y="381000"/>
              <a:ext cx="619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lang="en" sz="18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Sentiment Evaluation and Customer Experience Insights</a:t>
              </a:r>
              <a:endParaRPr b="1" sz="18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56" name="Google Shape;256;p21"/>
            <p:cNvCxnSpPr/>
            <p:nvPr/>
          </p:nvCxnSpPr>
          <p:spPr>
            <a:xfrm>
              <a:off x="571500" y="85725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11418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57" name="Google Shape;257;p21"/>
          <p:cNvGrpSpPr/>
          <p:nvPr/>
        </p:nvGrpSpPr>
        <p:grpSpPr>
          <a:xfrm>
            <a:off x="571500" y="1095375"/>
            <a:ext cx="8001000" cy="1428900"/>
            <a:chOff x="571500" y="1095375"/>
            <a:chExt cx="8001000" cy="1428900"/>
          </a:xfrm>
        </p:grpSpPr>
        <p:sp>
          <p:nvSpPr>
            <p:cNvPr id="258" name="Google Shape;258;p21"/>
            <p:cNvSpPr/>
            <p:nvPr/>
          </p:nvSpPr>
          <p:spPr>
            <a:xfrm>
              <a:off x="571500" y="1095375"/>
              <a:ext cx="8001000" cy="1428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1"/>
            <p:cNvSpPr/>
            <p:nvPr/>
          </p:nvSpPr>
          <p:spPr>
            <a:xfrm>
              <a:off x="571500" y="1095375"/>
              <a:ext cx="8001000" cy="38100"/>
            </a:xfrm>
            <a:prstGeom prst="rect">
              <a:avLst/>
            </a:prstGeom>
            <a:solidFill>
              <a:srgbClr val="00A36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1"/>
            <p:cNvSpPr txBox="1"/>
            <p:nvPr/>
          </p:nvSpPr>
          <p:spPr>
            <a:xfrm>
              <a:off x="857250" y="1238250"/>
              <a:ext cx="7429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1000">
                  <a:solidFill>
                    <a:srgbClr val="005CE6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MODEL EVALUATION PERFORMANCE</a:t>
              </a:r>
              <a:endParaRPr b="0" sz="1000">
                <a:solidFill>
                  <a:srgbClr val="005CE6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sp>
          <p:nvSpPr>
            <p:cNvPr id="261" name="Google Shape;261;p21"/>
            <p:cNvSpPr txBox="1"/>
            <p:nvPr/>
          </p:nvSpPr>
          <p:spPr>
            <a:xfrm>
              <a:off x="857250" y="1476375"/>
              <a:ext cx="7429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lang="en" sz="3780">
                  <a:solidFill>
                    <a:srgbClr val="005CE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1.00 </a:t>
              </a:r>
              <a:r>
                <a:rPr b="0" lang="en" sz="1400">
                  <a:solidFill>
                    <a:srgbClr val="5C667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Accuracy</a:t>
              </a:r>
              <a:endParaRPr b="1" sz="3780">
                <a:solidFill>
                  <a:srgbClr val="005CE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62" name="Google Shape;262;p21"/>
            <p:cNvSpPr txBox="1"/>
            <p:nvPr/>
          </p:nvSpPr>
          <p:spPr>
            <a:xfrm>
              <a:off x="857250" y="2143125"/>
              <a:ext cx="742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Both </a:t>
              </a:r>
              <a:r>
                <a:rPr b="1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Naive Bayes</a:t>
              </a:r>
              <a:r>
                <a:rPr b="0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and </a:t>
              </a:r>
              <a:r>
                <a:rPr b="1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SVM models</a:t>
              </a:r>
              <a:r>
                <a:rPr b="0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reported a perfect 1.00 accuracy on their evaluation sets.</a:t>
              </a:r>
              <a:endParaRPr b="0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263" name="Google Shape;263;p21"/>
          <p:cNvCxnSpPr/>
          <p:nvPr/>
        </p:nvCxnSpPr>
        <p:spPr>
          <a:xfrm>
            <a:off x="571500" y="2714625"/>
            <a:ext cx="8001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21"/>
          <p:cNvSpPr txBox="1"/>
          <p:nvPr/>
        </p:nvSpPr>
        <p:spPr>
          <a:xfrm>
            <a:off x="571500" y="2857500"/>
            <a:ext cx="800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0" lang="en" sz="1000">
                <a:solidFill>
                  <a:srgbClr val="005CE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BUSINESS RELEVANCE &amp; VALIDATION NOTES</a:t>
            </a:r>
            <a:endParaRPr b="0" sz="1000">
              <a:solidFill>
                <a:srgbClr val="005CE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grpSp>
        <p:nvGrpSpPr>
          <p:cNvPr id="265" name="Google Shape;265;p21"/>
          <p:cNvGrpSpPr/>
          <p:nvPr/>
        </p:nvGrpSpPr>
        <p:grpSpPr>
          <a:xfrm>
            <a:off x="571500" y="3190875"/>
            <a:ext cx="3857700" cy="1476300"/>
            <a:chOff x="0" y="0"/>
            <a:chExt cx="3857700" cy="1476300"/>
          </a:xfrm>
        </p:grpSpPr>
        <p:sp>
          <p:nvSpPr>
            <p:cNvPr id="266" name="Google Shape;266;p21"/>
            <p:cNvSpPr/>
            <p:nvPr/>
          </p:nvSpPr>
          <p:spPr>
            <a:xfrm>
              <a:off x="0" y="0"/>
              <a:ext cx="3857700" cy="1476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5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1"/>
            <p:cNvSpPr/>
            <p:nvPr/>
          </p:nvSpPr>
          <p:spPr>
            <a:xfrm>
              <a:off x="0" y="0"/>
              <a:ext cx="38100" cy="14763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1"/>
            <p:cNvSpPr/>
            <p:nvPr/>
          </p:nvSpPr>
          <p:spPr>
            <a:xfrm>
              <a:off x="190500" y="228600"/>
              <a:ext cx="76200" cy="762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1"/>
            <p:cNvSpPr txBox="1"/>
            <p:nvPr/>
          </p:nvSpPr>
          <p:spPr>
            <a:xfrm>
              <a:off x="342900" y="152400"/>
              <a:ext cx="3333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Model Evaluation Caution:</a:t>
              </a:r>
              <a:endParaRPr b="0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900"/>
                </a:spcAft>
                <a:buNone/>
              </a:pPr>
              <a:r>
                <a:rPr b="0" lang="en" sz="1100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rPr>
                <a:t>These perfect classification scores require cautious interpretation and must be independently validated on unseen real-world test data.</a:t>
              </a:r>
              <a:endParaRPr b="0" sz="110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0" name="Google Shape;270;p21"/>
          <p:cNvGrpSpPr/>
          <p:nvPr/>
        </p:nvGrpSpPr>
        <p:grpSpPr>
          <a:xfrm>
            <a:off x="4714875" y="3190875"/>
            <a:ext cx="3857700" cy="1476300"/>
            <a:chOff x="0" y="0"/>
            <a:chExt cx="3857700" cy="1476300"/>
          </a:xfrm>
        </p:grpSpPr>
        <p:sp>
          <p:nvSpPr>
            <p:cNvPr id="271" name="Google Shape;271;p21"/>
            <p:cNvSpPr/>
            <p:nvPr/>
          </p:nvSpPr>
          <p:spPr>
            <a:xfrm>
              <a:off x="0" y="0"/>
              <a:ext cx="3857700" cy="1476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5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1"/>
            <p:cNvSpPr/>
            <p:nvPr/>
          </p:nvSpPr>
          <p:spPr>
            <a:xfrm>
              <a:off x="0" y="0"/>
              <a:ext cx="38100" cy="1476300"/>
            </a:xfrm>
            <a:prstGeom prst="rect">
              <a:avLst/>
            </a:prstGeom>
            <a:solidFill>
              <a:srgbClr val="00A36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1"/>
            <p:cNvSpPr/>
            <p:nvPr/>
          </p:nvSpPr>
          <p:spPr>
            <a:xfrm>
              <a:off x="190500" y="228600"/>
              <a:ext cx="76200" cy="762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1"/>
            <p:cNvSpPr txBox="1"/>
            <p:nvPr/>
          </p:nvSpPr>
          <p:spPr>
            <a:xfrm>
              <a:off x="342900" y="152400"/>
              <a:ext cx="3333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Strategic Operations Relevance:</a:t>
              </a:r>
              <a:endParaRPr b="0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900"/>
                </a:spcAft>
                <a:buNone/>
              </a:pPr>
              <a:r>
                <a:rPr b="0" lang="en" sz="1100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rPr>
                <a:t>Categorizing complaints highlights frequent service pain points, allowing operations to address recurring complaints and prioritize targeted customer experience interventions.</a:t>
              </a:r>
              <a:endParaRPr b="0" sz="110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Google Shape;279;p22"/>
          <p:cNvGrpSpPr/>
          <p:nvPr/>
        </p:nvGrpSpPr>
        <p:grpSpPr>
          <a:xfrm>
            <a:off x="7143750" y="381000"/>
            <a:ext cx="1733700" cy="247650"/>
            <a:chOff x="0" y="0"/>
            <a:chExt cx="1733700" cy="247650"/>
          </a:xfrm>
        </p:grpSpPr>
        <p:sp>
          <p:nvSpPr>
            <p:cNvPr id="280" name="Google Shape;280;p22"/>
            <p:cNvSpPr/>
            <p:nvPr/>
          </p:nvSpPr>
          <p:spPr>
            <a:xfrm>
              <a:off x="0" y="0"/>
              <a:ext cx="228600" cy="2286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2"/>
            <p:cNvSpPr txBox="1"/>
            <p:nvPr/>
          </p:nvSpPr>
          <p:spPr>
            <a:xfrm>
              <a:off x="0" y="0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OI</a:t>
              </a:r>
              <a:endParaRPr b="1"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82" name="Google Shape;282;p22"/>
            <p:cNvSpPr txBox="1"/>
            <p:nvPr/>
          </p:nvSpPr>
          <p:spPr>
            <a:xfrm>
              <a:off x="304800" y="19050"/>
              <a:ext cx="1428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UBER EATS</a:t>
              </a:r>
              <a:endParaRPr b="1" sz="10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83" name="Google Shape;283;p22"/>
          <p:cNvSpPr txBox="1"/>
          <p:nvPr/>
        </p:nvSpPr>
        <p:spPr>
          <a:xfrm>
            <a:off x="571500" y="361950"/>
            <a:ext cx="63819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Supervised Machine Learning – Delivery Time Prediction</a:t>
            </a:r>
            <a:endParaRPr b="1" sz="180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84" name="Google Shape;284;p22"/>
          <p:cNvCxnSpPr/>
          <p:nvPr/>
        </p:nvCxnSpPr>
        <p:spPr>
          <a:xfrm>
            <a:off x="571500" y="838200"/>
            <a:ext cx="80010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114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22"/>
          <p:cNvSpPr txBox="1"/>
          <p:nvPr/>
        </p:nvSpPr>
        <p:spPr>
          <a:xfrm>
            <a:off x="571500" y="971550"/>
            <a:ext cx="8001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rPr>
              <a:t>Evaluated multiple models to estimate delivery duration using operational factors (distance, weather, traffic). Linear and Ridge Regression emerged as top performers.</a:t>
            </a:r>
            <a:endParaRPr b="0" sz="1100">
              <a:solidFill>
                <a:srgbClr val="5C66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86" name="Google Shape;286;p22"/>
          <p:cNvGrpSpPr/>
          <p:nvPr/>
        </p:nvGrpSpPr>
        <p:grpSpPr>
          <a:xfrm>
            <a:off x="571500" y="1476375"/>
            <a:ext cx="3857700" cy="1524000"/>
            <a:chOff x="0" y="0"/>
            <a:chExt cx="3857700" cy="1524000"/>
          </a:xfrm>
        </p:grpSpPr>
        <p:sp>
          <p:nvSpPr>
            <p:cNvPr id="287" name="Google Shape;287;p22"/>
            <p:cNvSpPr/>
            <p:nvPr/>
          </p:nvSpPr>
          <p:spPr>
            <a:xfrm>
              <a:off x="0" y="0"/>
              <a:ext cx="3857700" cy="1524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5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0" y="0"/>
              <a:ext cx="47700" cy="15240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2"/>
            <p:cNvSpPr txBox="1"/>
            <p:nvPr/>
          </p:nvSpPr>
          <p:spPr>
            <a:xfrm>
              <a:off x="190500" y="142875"/>
              <a:ext cx="3476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005CE6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LINEAR &amp; RIDGE REGRESSION (TIED TOP PERFORMERS)</a:t>
              </a:r>
              <a:endParaRPr b="0" sz="925">
                <a:solidFill>
                  <a:srgbClr val="005CE6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sp>
          <p:nvSpPr>
            <p:cNvPr id="290" name="Google Shape;290;p22"/>
            <p:cNvSpPr txBox="1"/>
            <p:nvPr/>
          </p:nvSpPr>
          <p:spPr>
            <a:xfrm>
              <a:off x="190500" y="400050"/>
              <a:ext cx="34767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MAE:</a:t>
              </a:r>
              <a:r>
                <a:rPr b="0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20.48  |  </a:t>
              </a:r>
              <a:r>
                <a:rPr b="1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RMSE:</a:t>
              </a:r>
              <a:r>
                <a:rPr b="0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23.67  |  </a:t>
              </a:r>
              <a:r>
                <a:rPr b="1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R²:</a:t>
              </a:r>
              <a:r>
                <a:rPr b="0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0.0007</a:t>
              </a:r>
              <a:endParaRPr b="0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rPr>
                <a:t>Linear and Ridge Regression effectively tied as the highest-performing models for estimating delivery duration based on operational features.</a:t>
              </a:r>
              <a:endParaRPr b="0" sz="100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1" name="Google Shape;291;p22"/>
          <p:cNvGrpSpPr/>
          <p:nvPr/>
        </p:nvGrpSpPr>
        <p:grpSpPr>
          <a:xfrm>
            <a:off x="4714875" y="1476375"/>
            <a:ext cx="3857700" cy="1524000"/>
            <a:chOff x="0" y="0"/>
            <a:chExt cx="3857700" cy="1524000"/>
          </a:xfrm>
        </p:grpSpPr>
        <p:sp>
          <p:nvSpPr>
            <p:cNvPr id="292" name="Google Shape;292;p22"/>
            <p:cNvSpPr/>
            <p:nvPr/>
          </p:nvSpPr>
          <p:spPr>
            <a:xfrm>
              <a:off x="0" y="0"/>
              <a:ext cx="3857700" cy="1524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5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2"/>
            <p:cNvSpPr/>
            <p:nvPr/>
          </p:nvSpPr>
          <p:spPr>
            <a:xfrm>
              <a:off x="0" y="0"/>
              <a:ext cx="47700" cy="1524000"/>
            </a:xfrm>
            <a:prstGeom prst="rect">
              <a:avLst/>
            </a:prstGeom>
            <a:solidFill>
              <a:srgbClr val="00A36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2"/>
            <p:cNvSpPr txBox="1"/>
            <p:nvPr/>
          </p:nvSpPr>
          <p:spPr>
            <a:xfrm>
              <a:off x="190500" y="142875"/>
              <a:ext cx="3476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A36C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LASSO REGRESSION</a:t>
              </a:r>
              <a:endParaRPr b="0" sz="1000">
                <a:solidFill>
                  <a:srgbClr val="00A36C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sp>
          <p:nvSpPr>
            <p:cNvPr id="295" name="Google Shape;295;p22"/>
            <p:cNvSpPr txBox="1"/>
            <p:nvPr/>
          </p:nvSpPr>
          <p:spPr>
            <a:xfrm>
              <a:off x="190500" y="400050"/>
              <a:ext cx="34767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MAE:</a:t>
              </a:r>
              <a:r>
                <a:rPr b="0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20.49</a:t>
              </a:r>
              <a:endParaRPr b="0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rPr>
                <a:t>Followed closely behind the top performers, demonstrating comparable predictive stability with slight L1 regularization penalty.</a:t>
              </a:r>
              <a:endParaRPr b="0" sz="100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6" name="Google Shape;296;p22"/>
          <p:cNvGrpSpPr/>
          <p:nvPr/>
        </p:nvGrpSpPr>
        <p:grpSpPr>
          <a:xfrm>
            <a:off x="571500" y="3190875"/>
            <a:ext cx="3857700" cy="1524000"/>
            <a:chOff x="0" y="0"/>
            <a:chExt cx="3857700" cy="1524000"/>
          </a:xfrm>
        </p:grpSpPr>
        <p:sp>
          <p:nvSpPr>
            <p:cNvPr id="297" name="Google Shape;297;p22"/>
            <p:cNvSpPr/>
            <p:nvPr/>
          </p:nvSpPr>
          <p:spPr>
            <a:xfrm>
              <a:off x="0" y="0"/>
              <a:ext cx="3857700" cy="1524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5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2"/>
            <p:cNvSpPr/>
            <p:nvPr/>
          </p:nvSpPr>
          <p:spPr>
            <a:xfrm>
              <a:off x="0" y="0"/>
              <a:ext cx="47700" cy="1524000"/>
            </a:xfrm>
            <a:prstGeom prst="rect">
              <a:avLst/>
            </a:prstGeom>
            <a:solidFill>
              <a:srgbClr val="5C667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2"/>
            <p:cNvSpPr txBox="1"/>
            <p:nvPr/>
          </p:nvSpPr>
          <p:spPr>
            <a:xfrm>
              <a:off x="190500" y="142875"/>
              <a:ext cx="3476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C6670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GRADIENT BOOSTING</a:t>
              </a:r>
              <a:endParaRPr b="0" sz="1000">
                <a:solidFill>
                  <a:srgbClr val="5C6670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sp>
          <p:nvSpPr>
            <p:cNvPr id="300" name="Google Shape;300;p22"/>
            <p:cNvSpPr txBox="1"/>
            <p:nvPr/>
          </p:nvSpPr>
          <p:spPr>
            <a:xfrm>
              <a:off x="190500" y="400050"/>
              <a:ext cx="34767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MAE:</a:t>
              </a:r>
              <a:r>
                <a:rPr b="0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20.79  |  </a:t>
              </a:r>
              <a:r>
                <a:rPr b="1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R²:</a:t>
              </a:r>
              <a:r>
                <a:rPr b="0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-0.0366</a:t>
              </a:r>
              <a:endParaRPr b="0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rPr>
                <a:t>Performed worse than linear baselines, resulting in a negative R² score indicating poor generalization on this specific feature set.</a:t>
              </a:r>
              <a:endParaRPr b="0" sz="100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1" name="Google Shape;301;p22"/>
          <p:cNvGrpSpPr/>
          <p:nvPr/>
        </p:nvGrpSpPr>
        <p:grpSpPr>
          <a:xfrm>
            <a:off x="4714875" y="3190875"/>
            <a:ext cx="3857700" cy="1524000"/>
            <a:chOff x="0" y="0"/>
            <a:chExt cx="3857700" cy="1524000"/>
          </a:xfrm>
        </p:grpSpPr>
        <p:sp>
          <p:nvSpPr>
            <p:cNvPr id="302" name="Google Shape;302;p22"/>
            <p:cNvSpPr/>
            <p:nvPr/>
          </p:nvSpPr>
          <p:spPr>
            <a:xfrm>
              <a:off x="0" y="0"/>
              <a:ext cx="3857700" cy="1524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5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2"/>
            <p:cNvSpPr/>
            <p:nvPr/>
          </p:nvSpPr>
          <p:spPr>
            <a:xfrm>
              <a:off x="0" y="0"/>
              <a:ext cx="47700" cy="1524000"/>
            </a:xfrm>
            <a:prstGeom prst="rect">
              <a:avLst/>
            </a:prstGeom>
            <a:solidFill>
              <a:srgbClr val="1114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2"/>
            <p:cNvSpPr txBox="1"/>
            <p:nvPr/>
          </p:nvSpPr>
          <p:spPr>
            <a:xfrm>
              <a:off x="190500" y="142875"/>
              <a:ext cx="3476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11418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RANDOM FOREST</a:t>
              </a:r>
              <a:endParaRPr b="0" sz="1000">
                <a:solidFill>
                  <a:srgbClr val="111418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sp>
          <p:nvSpPr>
            <p:cNvPr id="305" name="Google Shape;305;p22"/>
            <p:cNvSpPr txBox="1"/>
            <p:nvPr/>
          </p:nvSpPr>
          <p:spPr>
            <a:xfrm>
              <a:off x="190500" y="400050"/>
              <a:ext cx="34767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MAE:</a:t>
              </a:r>
              <a:r>
                <a:rPr b="0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22.29  |  </a:t>
              </a:r>
              <a:r>
                <a:rPr b="1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R²:</a:t>
              </a:r>
              <a:r>
                <a:rPr b="0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-0.2841</a:t>
              </a:r>
              <a:endParaRPr b="0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rPr>
                <a:t>Underperformed significantly compared to linear models, exhibiting substantial overfitting and the lowest R² value overall.</a:t>
              </a:r>
              <a:endParaRPr b="0" sz="100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23"/>
          <p:cNvGrpSpPr/>
          <p:nvPr/>
        </p:nvGrpSpPr>
        <p:grpSpPr>
          <a:xfrm>
            <a:off x="7143750" y="381000"/>
            <a:ext cx="1733700" cy="247650"/>
            <a:chOff x="0" y="0"/>
            <a:chExt cx="1733700" cy="247650"/>
          </a:xfrm>
        </p:grpSpPr>
        <p:sp>
          <p:nvSpPr>
            <p:cNvPr id="311" name="Google Shape;311;p23"/>
            <p:cNvSpPr/>
            <p:nvPr/>
          </p:nvSpPr>
          <p:spPr>
            <a:xfrm>
              <a:off x="0" y="0"/>
              <a:ext cx="228600" cy="2286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3"/>
            <p:cNvSpPr txBox="1"/>
            <p:nvPr/>
          </p:nvSpPr>
          <p:spPr>
            <a:xfrm>
              <a:off x="0" y="0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OI</a:t>
              </a:r>
              <a:endParaRPr b="1"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13" name="Google Shape;313;p23"/>
            <p:cNvSpPr txBox="1"/>
            <p:nvPr/>
          </p:nvSpPr>
          <p:spPr>
            <a:xfrm>
              <a:off x="304800" y="19050"/>
              <a:ext cx="1428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UBER EATS</a:t>
              </a:r>
              <a:endParaRPr b="1" sz="10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14" name="Google Shape;314;p23"/>
          <p:cNvSpPr txBox="1"/>
          <p:nvPr/>
        </p:nvSpPr>
        <p:spPr>
          <a:xfrm>
            <a:off x="571500" y="381000"/>
            <a:ext cx="6191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1" lang="en" sz="18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Understanding Delivery Time Factors</a:t>
            </a:r>
            <a:endParaRPr b="1" sz="180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15" name="Google Shape;315;p23"/>
          <p:cNvCxnSpPr/>
          <p:nvPr/>
        </p:nvCxnSpPr>
        <p:spPr>
          <a:xfrm>
            <a:off x="571500" y="857250"/>
            <a:ext cx="80010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114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" name="Google Shape;316;p23"/>
          <p:cNvSpPr txBox="1"/>
          <p:nvPr/>
        </p:nvSpPr>
        <p:spPr>
          <a:xfrm>
            <a:off x="571500" y="1095375"/>
            <a:ext cx="3619500" cy="3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005CE6"/>
                </a:solidFill>
                <a:highlight>
                  <a:srgbClr val="FFFFFF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Dominant Predictor</a:t>
            </a:r>
            <a:endParaRPr b="0" sz="1000">
              <a:solidFill>
                <a:srgbClr val="005CE6"/>
              </a:solidFill>
              <a:highlight>
                <a:srgbClr val="FFFFFF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5CE6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0.797</a:t>
            </a:r>
            <a:endParaRPr b="1" sz="2800">
              <a:solidFill>
                <a:srgbClr val="005CE6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11418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Distance</a:t>
            </a:r>
            <a:r>
              <a:rPr b="0" lang="en" sz="1100">
                <a:solidFill>
                  <a:srgbClr val="111418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 is the primary driver of delivery time. Weather and traffic were also factored into the regression analysis.</a:t>
            </a:r>
            <a:endParaRPr b="0" sz="1100">
              <a:solidFill>
                <a:srgbClr val="111418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C6670"/>
                </a:solidFill>
                <a:highlight>
                  <a:srgbClr val="FFFFFF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Predictive Power Limitation</a:t>
            </a:r>
            <a:endParaRPr b="0" sz="1000">
              <a:solidFill>
                <a:srgbClr val="5C6670"/>
              </a:solidFill>
              <a:highlight>
                <a:srgbClr val="FFFFFF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11418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A near-zero R² indicates that the model currently explains minimal variance in delivery duration.</a:t>
            </a:r>
            <a:endParaRPr b="0" sz="1100">
              <a:solidFill>
                <a:srgbClr val="111418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00A36C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Business Action</a:t>
            </a:r>
            <a:endParaRPr b="0" sz="1000">
              <a:solidFill>
                <a:srgbClr val="00A36C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900"/>
              </a:spcAft>
              <a:buNone/>
            </a:pPr>
            <a:r>
              <a:rPr b="0" lang="en" sz="1050">
                <a:solidFill>
                  <a:srgbClr val="111418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• Rely on distance for baseline route &amp; delivery planning.</a:t>
            </a:r>
            <a:br>
              <a:rPr b="0" lang="en" sz="1050">
                <a:solidFill>
                  <a:srgbClr val="111418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b="0" lang="en" sz="1050">
                <a:solidFill>
                  <a:srgbClr val="111418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• Collect richer additional features to enhance future predictive accuracy.</a:t>
            </a:r>
            <a:endParaRPr b="0" sz="1050">
              <a:solidFill>
                <a:srgbClr val="111418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17" name="Google Shape;31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6750" y="1095375"/>
            <a:ext cx="4095900" cy="30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322;p24"/>
          <p:cNvGrpSpPr/>
          <p:nvPr/>
        </p:nvGrpSpPr>
        <p:grpSpPr>
          <a:xfrm>
            <a:off x="7029450" y="381000"/>
            <a:ext cx="1733700" cy="247650"/>
            <a:chOff x="0" y="0"/>
            <a:chExt cx="1733700" cy="247650"/>
          </a:xfrm>
        </p:grpSpPr>
        <p:sp>
          <p:nvSpPr>
            <p:cNvPr id="323" name="Google Shape;323;p24"/>
            <p:cNvSpPr/>
            <p:nvPr/>
          </p:nvSpPr>
          <p:spPr>
            <a:xfrm>
              <a:off x="0" y="0"/>
              <a:ext cx="228600" cy="2286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4"/>
            <p:cNvSpPr txBox="1"/>
            <p:nvPr/>
          </p:nvSpPr>
          <p:spPr>
            <a:xfrm>
              <a:off x="0" y="0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OI</a:t>
              </a:r>
              <a:endParaRPr b="1"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25" name="Google Shape;325;p24"/>
            <p:cNvSpPr txBox="1"/>
            <p:nvPr/>
          </p:nvSpPr>
          <p:spPr>
            <a:xfrm>
              <a:off x="304800" y="19050"/>
              <a:ext cx="1428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UBER EATS</a:t>
              </a:r>
              <a:endParaRPr b="1" sz="10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26" name="Google Shape;326;p24"/>
          <p:cNvSpPr txBox="1"/>
          <p:nvPr/>
        </p:nvSpPr>
        <p:spPr>
          <a:xfrm>
            <a:off x="571500" y="361950"/>
            <a:ext cx="6191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1" lang="en" sz="20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Hourly Demand Forecasting</a:t>
            </a:r>
            <a:endParaRPr b="1" sz="200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27" name="Google Shape;327;p24"/>
          <p:cNvCxnSpPr/>
          <p:nvPr/>
        </p:nvCxnSpPr>
        <p:spPr>
          <a:xfrm>
            <a:off x="571500" y="857250"/>
            <a:ext cx="80010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11418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8" name="Google Shape;328;p24"/>
          <p:cNvGrpSpPr/>
          <p:nvPr/>
        </p:nvGrpSpPr>
        <p:grpSpPr>
          <a:xfrm>
            <a:off x="571500" y="1095375"/>
            <a:ext cx="8572500" cy="3619500"/>
            <a:chOff x="0" y="0"/>
            <a:chExt cx="8572500" cy="3619500"/>
          </a:xfrm>
        </p:grpSpPr>
        <p:sp>
          <p:nvSpPr>
            <p:cNvPr id="329" name="Google Shape;329;p24"/>
            <p:cNvSpPr txBox="1"/>
            <p:nvPr/>
          </p:nvSpPr>
          <p:spPr>
            <a:xfrm>
              <a:off x="0" y="0"/>
              <a:ext cx="37149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To support operational capacity planning, we model hourly order patterns using time-series analysis.</a:t>
              </a:r>
              <a:endParaRPr b="0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5CE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METHODOLOGY &amp; WORKFLOW</a:t>
              </a:r>
              <a:endParaRPr b="1" sz="1000">
                <a:solidFill>
                  <a:srgbClr val="005CE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111418"/>
                </a:buClr>
                <a:buSzPts val="1050"/>
                <a:buFont typeface="Inter"/>
                <a:buChar char="●"/>
              </a:pPr>
              <a:r>
                <a:rPr b="1" lang="en" sz="105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Hourly Aggregation:</a:t>
              </a:r>
              <a:r>
                <a:rPr b="0" lang="en" sz="105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Process begins with hourly aggregation of raw order data.</a:t>
              </a:r>
              <a:endParaRPr b="0" sz="105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11418"/>
                </a:buClr>
                <a:buSzPts val="1050"/>
                <a:buFont typeface="Inter"/>
                <a:buChar char="●"/>
              </a:pPr>
              <a:r>
                <a:rPr b="1" lang="en" sz="105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Time-Series Decomposition:</a:t>
              </a:r>
              <a:r>
                <a:rPr b="0" lang="en" sz="105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Isolate underlying trend, seasonality, and residual components.</a:t>
              </a:r>
              <a:endParaRPr b="0" sz="105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11418"/>
                </a:buClr>
                <a:buSzPts val="1050"/>
                <a:buFont typeface="Inter"/>
                <a:buChar char="●"/>
              </a:pPr>
              <a:r>
                <a:rPr b="1" lang="en" sz="105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Stationarity Testing:</a:t>
              </a:r>
              <a:r>
                <a:rPr b="0" lang="en" sz="105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Conduct stationarity testing using the ADF test.</a:t>
              </a:r>
              <a:endParaRPr b="0" sz="105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11418"/>
                </a:buClr>
                <a:buSzPts val="1050"/>
                <a:buFont typeface="Inter"/>
                <a:buChar char="●"/>
              </a:pPr>
              <a:r>
                <a:rPr b="1" lang="en" sz="105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Model Evaluation:</a:t>
              </a:r>
              <a:r>
                <a:rPr b="0" lang="en" sz="105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Forecast future demand by comparing ARIMA, Prophet, and a Naive Baseline model.</a:t>
              </a:r>
              <a:endParaRPr b="0" sz="105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330" name="Google Shape;33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00500" y="0"/>
              <a:ext cx="4572000" cy="257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1" name="Google Shape;331;p24"/>
            <p:cNvSpPr/>
            <p:nvPr/>
          </p:nvSpPr>
          <p:spPr>
            <a:xfrm>
              <a:off x="4000500" y="2714625"/>
              <a:ext cx="4572000" cy="857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4"/>
            <p:cNvSpPr/>
            <p:nvPr/>
          </p:nvSpPr>
          <p:spPr>
            <a:xfrm>
              <a:off x="4000500" y="2714625"/>
              <a:ext cx="38100" cy="8574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4"/>
            <p:cNvSpPr txBox="1"/>
            <p:nvPr/>
          </p:nvSpPr>
          <p:spPr>
            <a:xfrm>
              <a:off x="4152900" y="2809875"/>
              <a:ext cx="4286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11141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DECOMPOSITION BREAKDOWN</a:t>
              </a:r>
              <a:endParaRPr b="1" sz="950">
                <a:solidFill>
                  <a:srgbClr val="111418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900"/>
                </a:spcAft>
                <a:buNone/>
              </a:pPr>
              <a:r>
                <a:rPr b="0" lang="en" sz="950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rPr>
                <a:t>Decomposing raw hourly order demand reveals recurring hourly seasonality peaks and long-term trend lines, isolating irregular noise for reliable operational forecasting models.</a:t>
              </a:r>
              <a:endParaRPr b="0" sz="95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Google Shape;338;p25"/>
          <p:cNvGrpSpPr/>
          <p:nvPr/>
        </p:nvGrpSpPr>
        <p:grpSpPr>
          <a:xfrm>
            <a:off x="6953250" y="361950"/>
            <a:ext cx="1733700" cy="247650"/>
            <a:chOff x="0" y="0"/>
            <a:chExt cx="1733700" cy="247650"/>
          </a:xfrm>
        </p:grpSpPr>
        <p:sp>
          <p:nvSpPr>
            <p:cNvPr id="339" name="Google Shape;339;p25"/>
            <p:cNvSpPr/>
            <p:nvPr/>
          </p:nvSpPr>
          <p:spPr>
            <a:xfrm>
              <a:off x="0" y="0"/>
              <a:ext cx="228600" cy="2286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5"/>
            <p:cNvSpPr txBox="1"/>
            <p:nvPr/>
          </p:nvSpPr>
          <p:spPr>
            <a:xfrm>
              <a:off x="0" y="0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OI</a:t>
              </a:r>
              <a:endParaRPr b="1"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41" name="Google Shape;341;p25"/>
            <p:cNvSpPr txBox="1"/>
            <p:nvPr/>
          </p:nvSpPr>
          <p:spPr>
            <a:xfrm>
              <a:off x="304800" y="19050"/>
              <a:ext cx="1428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UBER EATS</a:t>
              </a:r>
              <a:endParaRPr b="1" sz="10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42" name="Google Shape;342;p25"/>
          <p:cNvSpPr txBox="1"/>
          <p:nvPr/>
        </p:nvSpPr>
        <p:spPr>
          <a:xfrm>
            <a:off x="571500" y="342900"/>
            <a:ext cx="6191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1" lang="en" sz="18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Forecast Evaluation and Demand Insights</a:t>
            </a:r>
            <a:endParaRPr b="1" sz="180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43" name="Google Shape;343;p25"/>
          <p:cNvCxnSpPr/>
          <p:nvPr/>
        </p:nvCxnSpPr>
        <p:spPr>
          <a:xfrm>
            <a:off x="571500" y="857250"/>
            <a:ext cx="80010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11418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4" name="Google Shape;344;p25"/>
          <p:cNvGrpSpPr/>
          <p:nvPr/>
        </p:nvGrpSpPr>
        <p:grpSpPr>
          <a:xfrm>
            <a:off x="571500" y="1143000"/>
            <a:ext cx="8001000" cy="1428900"/>
            <a:chOff x="571500" y="1143000"/>
            <a:chExt cx="8001000" cy="1428900"/>
          </a:xfrm>
        </p:grpSpPr>
        <p:sp>
          <p:nvSpPr>
            <p:cNvPr id="345" name="Google Shape;345;p25"/>
            <p:cNvSpPr/>
            <p:nvPr/>
          </p:nvSpPr>
          <p:spPr>
            <a:xfrm>
              <a:off x="571500" y="1143000"/>
              <a:ext cx="2476500" cy="1428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5"/>
            <p:cNvSpPr/>
            <p:nvPr/>
          </p:nvSpPr>
          <p:spPr>
            <a:xfrm>
              <a:off x="571500" y="1143000"/>
              <a:ext cx="2476500" cy="285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5"/>
            <p:cNvSpPr txBox="1"/>
            <p:nvPr/>
          </p:nvSpPr>
          <p:spPr>
            <a:xfrm>
              <a:off x="762000" y="1333500"/>
              <a:ext cx="2095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1000">
                  <a:solidFill>
                    <a:srgbClr val="005CE6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PEAK HOUR</a:t>
              </a:r>
              <a:endParaRPr b="0" sz="1000">
                <a:solidFill>
                  <a:srgbClr val="005CE6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sp>
          <p:nvSpPr>
            <p:cNvPr id="348" name="Google Shape;348;p25"/>
            <p:cNvSpPr txBox="1"/>
            <p:nvPr/>
          </p:nvSpPr>
          <p:spPr>
            <a:xfrm>
              <a:off x="762000" y="1571625"/>
              <a:ext cx="2095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lang="en" sz="3330">
                  <a:solidFill>
                    <a:srgbClr val="11141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02:00</a:t>
              </a:r>
              <a:endParaRPr b="1" sz="3330">
                <a:solidFill>
                  <a:srgbClr val="111418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49" name="Google Shape;349;p25"/>
            <p:cNvSpPr txBox="1"/>
            <p:nvPr/>
          </p:nvSpPr>
          <p:spPr>
            <a:xfrm>
              <a:off x="762000" y="2143125"/>
              <a:ext cx="2095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1000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rPr>
                <a:t>0.40 orders/hour</a:t>
              </a:r>
              <a:endParaRPr b="0" sz="100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0" name="Google Shape;350;p25"/>
            <p:cNvSpPr/>
            <p:nvPr/>
          </p:nvSpPr>
          <p:spPr>
            <a:xfrm>
              <a:off x="3333750" y="1143000"/>
              <a:ext cx="2476500" cy="1428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5"/>
            <p:cNvSpPr/>
            <p:nvPr/>
          </p:nvSpPr>
          <p:spPr>
            <a:xfrm>
              <a:off x="3333750" y="1143000"/>
              <a:ext cx="2476500" cy="285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5"/>
            <p:cNvSpPr txBox="1"/>
            <p:nvPr/>
          </p:nvSpPr>
          <p:spPr>
            <a:xfrm>
              <a:off x="3524250" y="1333500"/>
              <a:ext cx="2095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1000">
                  <a:solidFill>
                    <a:srgbClr val="005CE6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TEST MAE</a:t>
              </a:r>
              <a:endParaRPr b="0" sz="1000">
                <a:solidFill>
                  <a:srgbClr val="005CE6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sp>
          <p:nvSpPr>
            <p:cNvPr id="353" name="Google Shape;353;p25"/>
            <p:cNvSpPr txBox="1"/>
            <p:nvPr/>
          </p:nvSpPr>
          <p:spPr>
            <a:xfrm>
              <a:off x="3524250" y="1571625"/>
              <a:ext cx="2095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lang="en" sz="3330">
                  <a:solidFill>
                    <a:srgbClr val="11141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0.34</a:t>
              </a:r>
              <a:endParaRPr b="1" sz="3330">
                <a:solidFill>
                  <a:srgbClr val="111418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54" name="Google Shape;354;p25"/>
            <p:cNvSpPr txBox="1"/>
            <p:nvPr/>
          </p:nvSpPr>
          <p:spPr>
            <a:xfrm>
              <a:off x="3524250" y="2143125"/>
              <a:ext cx="2095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1000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rPr>
                <a:t>Naive Baseline best</a:t>
              </a:r>
              <a:endParaRPr b="0" sz="100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5" name="Google Shape;355;p25"/>
            <p:cNvSpPr/>
            <p:nvPr/>
          </p:nvSpPr>
          <p:spPr>
            <a:xfrm>
              <a:off x="6096000" y="1143000"/>
              <a:ext cx="2476500" cy="1428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5"/>
            <p:cNvSpPr/>
            <p:nvPr/>
          </p:nvSpPr>
          <p:spPr>
            <a:xfrm>
              <a:off x="6096000" y="1143000"/>
              <a:ext cx="2476500" cy="285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5"/>
            <p:cNvSpPr txBox="1"/>
            <p:nvPr/>
          </p:nvSpPr>
          <p:spPr>
            <a:xfrm>
              <a:off x="6286500" y="1333500"/>
              <a:ext cx="2095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1000">
                  <a:solidFill>
                    <a:srgbClr val="005CE6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TEST RMSE</a:t>
              </a:r>
              <a:endParaRPr b="0" sz="1000">
                <a:solidFill>
                  <a:srgbClr val="005CE6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sp>
          <p:nvSpPr>
            <p:cNvPr id="358" name="Google Shape;358;p25"/>
            <p:cNvSpPr txBox="1"/>
            <p:nvPr/>
          </p:nvSpPr>
          <p:spPr>
            <a:xfrm>
              <a:off x="6286500" y="1571625"/>
              <a:ext cx="2095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lang="en" sz="3330">
                  <a:solidFill>
                    <a:srgbClr val="11141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0.67</a:t>
              </a:r>
              <a:endParaRPr b="1" sz="3330">
                <a:solidFill>
                  <a:srgbClr val="111418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59" name="Google Shape;359;p25"/>
            <p:cNvSpPr txBox="1"/>
            <p:nvPr/>
          </p:nvSpPr>
          <p:spPr>
            <a:xfrm>
              <a:off x="6286500" y="2143125"/>
              <a:ext cx="2095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1000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rPr>
                <a:t>Naive Baseline best</a:t>
              </a:r>
              <a:endParaRPr b="0" sz="1000">
                <a:solidFill>
                  <a:srgbClr val="5C667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60" name="Google Shape;360;p25"/>
          <p:cNvSpPr/>
          <p:nvPr/>
        </p:nvSpPr>
        <p:spPr>
          <a:xfrm>
            <a:off x="571500" y="2857500"/>
            <a:ext cx="8001000" cy="1714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5"/>
          <p:cNvSpPr/>
          <p:nvPr/>
        </p:nvSpPr>
        <p:spPr>
          <a:xfrm>
            <a:off x="571500" y="2857500"/>
            <a:ext cx="38100" cy="1714500"/>
          </a:xfrm>
          <a:prstGeom prst="rect">
            <a:avLst/>
          </a:prstGeom>
          <a:solidFill>
            <a:srgbClr val="11141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5"/>
          <p:cNvSpPr txBox="1"/>
          <p:nvPr/>
        </p:nvSpPr>
        <p:spPr>
          <a:xfrm>
            <a:off x="857250" y="3048000"/>
            <a:ext cx="74295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Demand Profile:</a:t>
            </a:r>
            <a:r>
              <a:rPr b="0" lang="en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 Demand metrics show an average of 0.34 orders per hour. The peak hour is 02:00 (0.40 orders/hour), while the quietest is 06:00 (0.28 orders/hour).</a:t>
            </a:r>
            <a:endParaRPr b="0" sz="110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Model Performance:</a:t>
            </a:r>
            <a:r>
              <a:rPr b="0" lang="en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 The Naive Baseline model performed best, achieving a Test MAE of 0.34 and a Test RMSE of 0.67.</a:t>
            </a:r>
            <a:endParaRPr b="0" sz="110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b="1" lang="en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Metric Limitation:</a:t>
            </a:r>
            <a:r>
              <a:rPr b="0" lang="en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 The Test MAPE was 100%, which reflects the limitations of percentage-based metrics when applied to low-volume, integer-count data.</a:t>
            </a:r>
            <a:endParaRPr b="0" sz="110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2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68" name="Google Shape;368;p2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5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9" name="Google Shape;369;p26"/>
            <p:cNvGrpSpPr/>
            <p:nvPr/>
          </p:nvGrpSpPr>
          <p:grpSpPr>
            <a:xfrm>
              <a:off x="7143750" y="381000"/>
              <a:ext cx="1733700" cy="247650"/>
              <a:chOff x="0" y="0"/>
              <a:chExt cx="1733700" cy="247650"/>
            </a:xfrm>
          </p:grpSpPr>
          <p:sp>
            <p:nvSpPr>
              <p:cNvPr id="370" name="Google Shape;370;p26"/>
              <p:cNvSpPr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solidFill>
                <a:srgbClr val="005CE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26"/>
              <p:cNvSpPr txBox="1"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OI</a:t>
                </a:r>
                <a:endParaRPr b="1" sz="12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372" name="Google Shape;372;p26"/>
              <p:cNvSpPr txBox="1"/>
              <p:nvPr/>
            </p:nvSpPr>
            <p:spPr>
              <a:xfrm>
                <a:off x="304800" y="19050"/>
                <a:ext cx="1428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11418"/>
                    </a:solidFill>
                    <a:latin typeface="Inter"/>
                    <a:ea typeface="Inter"/>
                    <a:cs typeface="Inter"/>
                    <a:sym typeface="Inter"/>
                  </a:rPr>
                  <a:t>UBER EATS</a:t>
                </a:r>
                <a:endParaRPr b="1" sz="10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373" name="Google Shape;373;p26"/>
            <p:cNvSpPr txBox="1"/>
            <p:nvPr/>
          </p:nvSpPr>
          <p:spPr>
            <a:xfrm>
              <a:off x="571500" y="361950"/>
              <a:ext cx="6381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" sz="153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Translating Machine Learning Results into Business Decisions</a:t>
              </a:r>
              <a:endParaRPr b="1" sz="153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374" name="Google Shape;374;p26"/>
            <p:cNvCxnSpPr/>
            <p:nvPr/>
          </p:nvCxnSpPr>
          <p:spPr>
            <a:xfrm>
              <a:off x="571500" y="85725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11418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75" name="Google Shape;375;p26"/>
          <p:cNvGrpSpPr/>
          <p:nvPr/>
        </p:nvGrpSpPr>
        <p:grpSpPr>
          <a:xfrm>
            <a:off x="571500" y="1047750"/>
            <a:ext cx="3905400" cy="3714600"/>
            <a:chOff x="0" y="0"/>
            <a:chExt cx="3905400" cy="3714600"/>
          </a:xfrm>
        </p:grpSpPr>
        <p:sp>
          <p:nvSpPr>
            <p:cNvPr id="376" name="Google Shape;376;p26"/>
            <p:cNvSpPr/>
            <p:nvPr/>
          </p:nvSpPr>
          <p:spPr>
            <a:xfrm>
              <a:off x="0" y="0"/>
              <a:ext cx="3905400" cy="1762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5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6"/>
            <p:cNvSpPr/>
            <p:nvPr/>
          </p:nvSpPr>
          <p:spPr>
            <a:xfrm>
              <a:off x="0" y="0"/>
              <a:ext cx="38100" cy="17622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6"/>
            <p:cNvSpPr txBox="1"/>
            <p:nvPr/>
          </p:nvSpPr>
          <p:spPr>
            <a:xfrm>
              <a:off x="190500" y="152400"/>
              <a:ext cx="3524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0" lang="en" sz="1000">
                  <a:solidFill>
                    <a:srgbClr val="005CE6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TARGETED ENGAGEMENT &amp; ROUTE PLANNING</a:t>
              </a:r>
              <a:endParaRPr b="0" sz="1000">
                <a:solidFill>
                  <a:srgbClr val="005CE6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sp>
          <p:nvSpPr>
            <p:cNvPr id="379" name="Google Shape;379;p26"/>
            <p:cNvSpPr txBox="1"/>
            <p:nvPr/>
          </p:nvSpPr>
          <p:spPr>
            <a:xfrm>
              <a:off x="190500" y="428625"/>
              <a:ext cx="3524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Segmentation &amp; Support:</a:t>
              </a:r>
              <a:r>
                <a:rPr b="0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Segmentation enables targeted customer engagement and tailored restaurant performance support.</a:t>
              </a:r>
              <a:endParaRPr b="0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1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Sentiment &amp; Predictions:</a:t>
              </a:r>
              <a:r>
                <a:rPr b="0" lang="en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Sentiment and delivery predictions prioritize overall customer experience (CX) and optimize route distance planning.</a:t>
              </a:r>
              <a:endParaRPr b="0" sz="11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80" name="Google Shape;380;p26"/>
            <p:cNvGrpSpPr/>
            <p:nvPr/>
          </p:nvGrpSpPr>
          <p:grpSpPr>
            <a:xfrm>
              <a:off x="0" y="1905000"/>
              <a:ext cx="3905400" cy="1809600"/>
              <a:chOff x="0" y="0"/>
              <a:chExt cx="3905400" cy="1809600"/>
            </a:xfrm>
          </p:grpSpPr>
          <p:sp>
            <p:nvSpPr>
              <p:cNvPr id="381" name="Google Shape;381;p26"/>
              <p:cNvSpPr/>
              <p:nvPr/>
            </p:nvSpPr>
            <p:spPr>
              <a:xfrm>
                <a:off x="0" y="0"/>
                <a:ext cx="3905400" cy="1809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D0D5D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26"/>
              <p:cNvSpPr/>
              <p:nvPr/>
            </p:nvSpPr>
            <p:spPr>
              <a:xfrm>
                <a:off x="0" y="0"/>
                <a:ext cx="38100" cy="1809600"/>
              </a:xfrm>
              <a:prstGeom prst="rect">
                <a:avLst/>
              </a:prstGeom>
              <a:solidFill>
                <a:srgbClr val="00A36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26"/>
              <p:cNvSpPr txBox="1"/>
              <p:nvPr/>
            </p:nvSpPr>
            <p:spPr>
              <a:xfrm>
                <a:off x="190500" y="152400"/>
                <a:ext cx="35244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0" lang="en" sz="1000">
                    <a:solidFill>
                      <a:srgbClr val="00A36C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AVERAGE TIP BY PAYMENT METHOD</a:t>
                </a:r>
                <a:endParaRPr b="0" sz="1000">
                  <a:solidFill>
                    <a:srgbClr val="00A36C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endParaRPr>
              </a:p>
            </p:txBody>
          </p:sp>
          <p:sp>
            <p:nvSpPr>
              <p:cNvPr id="384" name="Google Shape;384;p26"/>
              <p:cNvSpPr txBox="1"/>
              <p:nvPr/>
            </p:nvSpPr>
            <p:spPr>
              <a:xfrm>
                <a:off x="190500" y="428625"/>
                <a:ext cx="762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0" lang="en" sz="1000">
                    <a:solidFill>
                      <a:srgbClr val="11141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Wallet</a:t>
                </a:r>
                <a:endParaRPr b="0" sz="1000">
                  <a:solidFill>
                    <a:srgbClr val="11141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85" name="Google Shape;385;p26"/>
              <p:cNvSpPr/>
              <p:nvPr/>
            </p:nvSpPr>
            <p:spPr>
              <a:xfrm>
                <a:off x="952500" y="457200"/>
                <a:ext cx="2095500" cy="133500"/>
              </a:xfrm>
              <a:prstGeom prst="rect">
                <a:avLst/>
              </a:prstGeom>
              <a:solidFill>
                <a:srgbClr val="00A36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26"/>
              <p:cNvSpPr txBox="1"/>
              <p:nvPr/>
            </p:nvSpPr>
            <p:spPr>
              <a:xfrm>
                <a:off x="3124200" y="428625"/>
                <a:ext cx="571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1" lang="en" sz="1000">
                    <a:solidFill>
                      <a:srgbClr val="111418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102.51</a:t>
                </a:r>
                <a:endParaRPr b="1" sz="1000">
                  <a:solidFill>
                    <a:srgbClr val="111418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387" name="Google Shape;387;p26"/>
              <p:cNvSpPr txBox="1"/>
              <p:nvPr/>
            </p:nvSpPr>
            <p:spPr>
              <a:xfrm>
                <a:off x="190500" y="714375"/>
                <a:ext cx="762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0" lang="en" sz="1000">
                    <a:solidFill>
                      <a:srgbClr val="11141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Cash</a:t>
                </a:r>
                <a:endParaRPr b="0" sz="1000">
                  <a:solidFill>
                    <a:srgbClr val="11141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88" name="Google Shape;388;p26"/>
              <p:cNvSpPr/>
              <p:nvPr/>
            </p:nvSpPr>
            <p:spPr>
              <a:xfrm>
                <a:off x="952500" y="742950"/>
                <a:ext cx="2028900" cy="133500"/>
              </a:xfrm>
              <a:prstGeom prst="rect">
                <a:avLst/>
              </a:prstGeom>
              <a:solidFill>
                <a:srgbClr val="11141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26"/>
              <p:cNvSpPr txBox="1"/>
              <p:nvPr/>
            </p:nvSpPr>
            <p:spPr>
              <a:xfrm>
                <a:off x="3124200" y="714375"/>
                <a:ext cx="571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1" lang="en" sz="1000">
                    <a:solidFill>
                      <a:srgbClr val="111418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99.45</a:t>
                </a:r>
                <a:endParaRPr b="1" sz="1000">
                  <a:solidFill>
                    <a:srgbClr val="111418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390" name="Google Shape;390;p26"/>
              <p:cNvSpPr txBox="1"/>
              <p:nvPr/>
            </p:nvSpPr>
            <p:spPr>
              <a:xfrm>
                <a:off x="190500" y="1000125"/>
                <a:ext cx="762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0" lang="en" sz="1000">
                    <a:solidFill>
                      <a:srgbClr val="11141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Card</a:t>
                </a:r>
                <a:endParaRPr b="0" sz="1000">
                  <a:solidFill>
                    <a:srgbClr val="11141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91" name="Google Shape;391;p26"/>
              <p:cNvSpPr/>
              <p:nvPr/>
            </p:nvSpPr>
            <p:spPr>
              <a:xfrm>
                <a:off x="952500" y="1028700"/>
                <a:ext cx="2019300" cy="133500"/>
              </a:xfrm>
              <a:prstGeom prst="rect">
                <a:avLst/>
              </a:prstGeom>
              <a:solidFill>
                <a:srgbClr val="005CE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26"/>
              <p:cNvSpPr txBox="1"/>
              <p:nvPr/>
            </p:nvSpPr>
            <p:spPr>
              <a:xfrm>
                <a:off x="3124200" y="1000125"/>
                <a:ext cx="571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1" lang="en" sz="1000">
                    <a:solidFill>
                      <a:srgbClr val="111418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99.00</a:t>
                </a:r>
                <a:endParaRPr b="1" sz="1000">
                  <a:solidFill>
                    <a:srgbClr val="111418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393" name="Google Shape;393;p26"/>
              <p:cNvSpPr txBox="1"/>
              <p:nvPr/>
            </p:nvSpPr>
            <p:spPr>
              <a:xfrm>
                <a:off x="190500" y="1285875"/>
                <a:ext cx="762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0" lang="en" sz="1000">
                    <a:solidFill>
                      <a:srgbClr val="11141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UPI</a:t>
                </a:r>
                <a:endParaRPr b="0" sz="1000">
                  <a:solidFill>
                    <a:srgbClr val="11141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94" name="Google Shape;394;p26"/>
              <p:cNvSpPr/>
              <p:nvPr/>
            </p:nvSpPr>
            <p:spPr>
              <a:xfrm>
                <a:off x="952500" y="1314450"/>
                <a:ext cx="2000100" cy="133500"/>
              </a:xfrm>
              <a:prstGeom prst="rect">
                <a:avLst/>
              </a:prstGeom>
              <a:solidFill>
                <a:srgbClr val="5C667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26"/>
              <p:cNvSpPr txBox="1"/>
              <p:nvPr/>
            </p:nvSpPr>
            <p:spPr>
              <a:xfrm>
                <a:off x="3124200" y="1285875"/>
                <a:ext cx="571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1" lang="en" sz="1000">
                    <a:solidFill>
                      <a:srgbClr val="111418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97.80</a:t>
                </a:r>
                <a:endParaRPr b="1" sz="1000">
                  <a:solidFill>
                    <a:srgbClr val="111418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396" name="Google Shape;396;p26"/>
              <p:cNvSpPr txBox="1"/>
              <p:nvPr/>
            </p:nvSpPr>
            <p:spPr>
              <a:xfrm>
                <a:off x="190500" y="1543050"/>
                <a:ext cx="3524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0" lang="en" sz="833">
                    <a:solidFill>
                      <a:srgbClr val="5C6670"/>
                    </a:solidFill>
                    <a:latin typeface="Inter"/>
                    <a:ea typeface="Inter"/>
                    <a:cs typeface="Inter"/>
                    <a:sym typeface="Inter"/>
                  </a:rPr>
                  <a:t>Tip analysis reveals Wallet transactions yield the highest average tip.</a:t>
                </a:r>
                <a:endParaRPr b="0" sz="833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97" name="Google Shape;397;p26"/>
          <p:cNvGrpSpPr/>
          <p:nvPr/>
        </p:nvGrpSpPr>
        <p:grpSpPr>
          <a:xfrm>
            <a:off x="4667250" y="1047750"/>
            <a:ext cx="3905400" cy="3714900"/>
            <a:chOff x="0" y="0"/>
            <a:chExt cx="3905400" cy="3714900"/>
          </a:xfrm>
        </p:grpSpPr>
        <p:sp>
          <p:nvSpPr>
            <p:cNvPr id="398" name="Google Shape;398;p26"/>
            <p:cNvSpPr/>
            <p:nvPr/>
          </p:nvSpPr>
          <p:spPr>
            <a:xfrm>
              <a:off x="0" y="0"/>
              <a:ext cx="3905400" cy="3714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5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6"/>
            <p:cNvSpPr/>
            <p:nvPr/>
          </p:nvSpPr>
          <p:spPr>
            <a:xfrm>
              <a:off x="0" y="0"/>
              <a:ext cx="3905400" cy="38100"/>
            </a:xfrm>
            <a:prstGeom prst="rect">
              <a:avLst/>
            </a:prstGeom>
            <a:solidFill>
              <a:srgbClr val="1114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6"/>
            <p:cNvSpPr txBox="1"/>
            <p:nvPr/>
          </p:nvSpPr>
          <p:spPr>
            <a:xfrm>
              <a:off x="190500" y="152400"/>
              <a:ext cx="3524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0" lang="en" sz="1000">
                  <a:solidFill>
                    <a:srgbClr val="111418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HIGH-DEMAND OPERATIONAL READINESS</a:t>
              </a:r>
              <a:endParaRPr b="0" sz="1000">
                <a:solidFill>
                  <a:srgbClr val="111418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sp>
          <p:nvSpPr>
            <p:cNvPr id="401" name="Google Shape;401;p26"/>
            <p:cNvSpPr txBox="1"/>
            <p:nvPr/>
          </p:nvSpPr>
          <p:spPr>
            <a:xfrm>
              <a:off x="190500" y="428625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0" lang="en" sz="1018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Historical demand trends require targeted operational readiness during critical early-morning peak hours:</a:t>
              </a:r>
              <a:endParaRPr b="0" sz="1018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02" name="Google Shape;402;p26"/>
            <p:cNvGrpSpPr/>
            <p:nvPr/>
          </p:nvGrpSpPr>
          <p:grpSpPr>
            <a:xfrm>
              <a:off x="190500" y="904875"/>
              <a:ext cx="3524400" cy="1143000"/>
              <a:chOff x="0" y="0"/>
              <a:chExt cx="3524400" cy="1143000"/>
            </a:xfrm>
          </p:grpSpPr>
          <p:sp>
            <p:nvSpPr>
              <p:cNvPr id="403" name="Google Shape;403;p26"/>
              <p:cNvSpPr/>
              <p:nvPr/>
            </p:nvSpPr>
            <p:spPr>
              <a:xfrm>
                <a:off x="0" y="0"/>
                <a:ext cx="3524400" cy="1143000"/>
              </a:xfrm>
              <a:prstGeom prst="rect">
                <a:avLst/>
              </a:prstGeom>
              <a:solidFill>
                <a:srgbClr val="F4F5F7"/>
              </a:solidFill>
              <a:ln cap="flat" cmpd="sng" w="9525">
                <a:solidFill>
                  <a:srgbClr val="D0D5D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6"/>
              <p:cNvSpPr txBox="1"/>
              <p:nvPr/>
            </p:nvSpPr>
            <p:spPr>
              <a:xfrm>
                <a:off x="142875" y="114300"/>
                <a:ext cx="1905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1" lang="en" sz="1100">
                    <a:solidFill>
                      <a:srgbClr val="005CE6"/>
                    </a:solidFill>
                    <a:latin typeface="Inter"/>
                    <a:ea typeface="Inter"/>
                    <a:cs typeface="Inter"/>
                    <a:sym typeface="Inter"/>
                  </a:rPr>
                  <a:t>BENGALURU</a:t>
                </a:r>
                <a:endParaRPr b="1" sz="1100">
                  <a:solidFill>
                    <a:srgbClr val="005CE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5" name="Google Shape;405;p26"/>
              <p:cNvSpPr txBox="1"/>
              <p:nvPr/>
            </p:nvSpPr>
            <p:spPr>
              <a:xfrm>
                <a:off x="142875" y="361950"/>
                <a:ext cx="1524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1" lang="en" sz="1850">
                    <a:solidFill>
                      <a:srgbClr val="111418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02:00 </a:t>
                </a:r>
                <a:r>
                  <a:rPr b="0" lang="en" sz="1018">
                    <a:solidFill>
                      <a:srgbClr val="5C6670"/>
                    </a:solidFill>
                    <a:latin typeface="Inter"/>
                    <a:ea typeface="Inter"/>
                    <a:cs typeface="Inter"/>
                    <a:sym typeface="Inter"/>
                  </a:rPr>
                  <a:t>HRS</a:t>
                </a:r>
                <a:endParaRPr b="1" sz="1850">
                  <a:solidFill>
                    <a:srgbClr val="111418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406" name="Google Shape;406;p26"/>
              <p:cNvSpPr txBox="1"/>
              <p:nvPr/>
            </p:nvSpPr>
            <p:spPr>
              <a:xfrm>
                <a:off x="1809750" y="361950"/>
                <a:ext cx="15717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1" lang="en" sz="1850">
                    <a:solidFill>
                      <a:srgbClr val="005CE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40 </a:t>
                </a:r>
                <a:r>
                  <a:rPr b="0" lang="en" sz="1018">
                    <a:solidFill>
                      <a:srgbClr val="5C6670"/>
                    </a:solidFill>
                    <a:latin typeface="Inter"/>
                    <a:ea typeface="Inter"/>
                    <a:cs typeface="Inter"/>
                    <a:sym typeface="Inter"/>
                  </a:rPr>
                  <a:t>orders</a:t>
                </a:r>
                <a:endParaRPr b="1" sz="1850">
                  <a:solidFill>
                    <a:srgbClr val="005CE6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cxnSp>
            <p:nvCxnSpPr>
              <p:cNvPr id="407" name="Google Shape;407;p26"/>
              <p:cNvCxnSpPr/>
              <p:nvPr/>
            </p:nvCxnSpPr>
            <p:spPr>
              <a:xfrm>
                <a:off x="142875" y="742950"/>
                <a:ext cx="32385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D0D5DD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08" name="Google Shape;408;p26"/>
              <p:cNvSpPr txBox="1"/>
              <p:nvPr/>
            </p:nvSpPr>
            <p:spPr>
              <a:xfrm>
                <a:off x="142875" y="819150"/>
                <a:ext cx="3238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0" lang="en" sz="808">
                    <a:solidFill>
                      <a:srgbClr val="5C6670"/>
                    </a:solidFill>
                    <a:latin typeface="Inter"/>
                    <a:ea typeface="Inter"/>
                    <a:cs typeface="Inter"/>
                    <a:sym typeface="Inter"/>
                  </a:rPr>
                  <a:t>Peak historical volume requires pre-allocated courier capacity.</a:t>
                </a:r>
                <a:endParaRPr b="0" sz="808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09" name="Google Shape;409;p26"/>
            <p:cNvGrpSpPr/>
            <p:nvPr/>
          </p:nvGrpSpPr>
          <p:grpSpPr>
            <a:xfrm>
              <a:off x="190500" y="2190750"/>
              <a:ext cx="3524400" cy="1333500"/>
              <a:chOff x="0" y="0"/>
              <a:chExt cx="3524400" cy="1333500"/>
            </a:xfrm>
          </p:grpSpPr>
          <p:sp>
            <p:nvSpPr>
              <p:cNvPr id="410" name="Google Shape;410;p26"/>
              <p:cNvSpPr/>
              <p:nvPr/>
            </p:nvSpPr>
            <p:spPr>
              <a:xfrm>
                <a:off x="0" y="0"/>
                <a:ext cx="3524400" cy="1333500"/>
              </a:xfrm>
              <a:prstGeom prst="rect">
                <a:avLst/>
              </a:prstGeom>
              <a:solidFill>
                <a:srgbClr val="F4F5F7"/>
              </a:solidFill>
              <a:ln cap="flat" cmpd="sng" w="9525">
                <a:solidFill>
                  <a:srgbClr val="D0D5D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26"/>
              <p:cNvSpPr txBox="1"/>
              <p:nvPr/>
            </p:nvSpPr>
            <p:spPr>
              <a:xfrm>
                <a:off x="142875" y="114300"/>
                <a:ext cx="1905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1" lang="en" sz="1100">
                    <a:solidFill>
                      <a:srgbClr val="111418"/>
                    </a:solidFill>
                    <a:latin typeface="Inter"/>
                    <a:ea typeface="Inter"/>
                    <a:cs typeface="Inter"/>
                    <a:sym typeface="Inter"/>
                  </a:rPr>
                  <a:t>DELHI</a:t>
                </a:r>
                <a:endParaRPr b="1" sz="11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2" name="Google Shape;412;p26"/>
              <p:cNvSpPr txBox="1"/>
              <p:nvPr/>
            </p:nvSpPr>
            <p:spPr>
              <a:xfrm>
                <a:off x="142875" y="361950"/>
                <a:ext cx="1524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1" lang="en" sz="1800">
                    <a:solidFill>
                      <a:srgbClr val="111418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02:00 </a:t>
                </a:r>
                <a:r>
                  <a:rPr b="0" lang="en" sz="1000">
                    <a:solidFill>
                      <a:srgbClr val="5C6670"/>
                    </a:solidFill>
                    <a:latin typeface="Inter"/>
                    <a:ea typeface="Inter"/>
                    <a:cs typeface="Inter"/>
                    <a:sym typeface="Inter"/>
                  </a:rPr>
                  <a:t>HRS</a:t>
                </a:r>
                <a:endParaRPr b="1" sz="1800">
                  <a:solidFill>
                    <a:srgbClr val="111418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413" name="Google Shape;413;p26"/>
              <p:cNvSpPr txBox="1"/>
              <p:nvPr/>
            </p:nvSpPr>
            <p:spPr>
              <a:xfrm>
                <a:off x="1809750" y="361950"/>
                <a:ext cx="15717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1" lang="en" sz="1800">
                    <a:solidFill>
                      <a:srgbClr val="111418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34 </a:t>
                </a:r>
                <a:r>
                  <a:rPr b="0" lang="en" sz="1000">
                    <a:solidFill>
                      <a:srgbClr val="5C6670"/>
                    </a:solidFill>
                    <a:latin typeface="Inter"/>
                    <a:ea typeface="Inter"/>
                    <a:cs typeface="Inter"/>
                    <a:sym typeface="Inter"/>
                  </a:rPr>
                  <a:t>orders</a:t>
                </a:r>
                <a:endParaRPr b="1" sz="1800">
                  <a:solidFill>
                    <a:srgbClr val="111418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414" name="Google Shape;414;p26"/>
              <p:cNvSpPr txBox="1"/>
              <p:nvPr/>
            </p:nvSpPr>
            <p:spPr>
              <a:xfrm>
                <a:off x="142875" y="666750"/>
                <a:ext cx="1524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1" lang="en" sz="1800">
                    <a:solidFill>
                      <a:srgbClr val="111418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07:00 </a:t>
                </a:r>
                <a:r>
                  <a:rPr b="0" lang="en" sz="1000">
                    <a:solidFill>
                      <a:srgbClr val="5C6670"/>
                    </a:solidFill>
                    <a:latin typeface="Inter"/>
                    <a:ea typeface="Inter"/>
                    <a:cs typeface="Inter"/>
                    <a:sym typeface="Inter"/>
                  </a:rPr>
                  <a:t>HRS</a:t>
                </a:r>
                <a:endParaRPr b="1" sz="1800">
                  <a:solidFill>
                    <a:srgbClr val="111418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415" name="Google Shape;415;p26"/>
              <p:cNvSpPr txBox="1"/>
              <p:nvPr/>
            </p:nvSpPr>
            <p:spPr>
              <a:xfrm>
                <a:off x="1809750" y="666750"/>
                <a:ext cx="15717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1" lang="en" sz="1800">
                    <a:solidFill>
                      <a:srgbClr val="111418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34 </a:t>
                </a:r>
                <a:r>
                  <a:rPr b="0" lang="en" sz="1000">
                    <a:solidFill>
                      <a:srgbClr val="5C6670"/>
                    </a:solidFill>
                    <a:latin typeface="Inter"/>
                    <a:ea typeface="Inter"/>
                    <a:cs typeface="Inter"/>
                    <a:sym typeface="Inter"/>
                  </a:rPr>
                  <a:t>orders</a:t>
                </a:r>
                <a:endParaRPr b="1" sz="1800">
                  <a:solidFill>
                    <a:srgbClr val="111418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cxnSp>
            <p:nvCxnSpPr>
              <p:cNvPr id="416" name="Google Shape;416;p26"/>
              <p:cNvCxnSpPr/>
              <p:nvPr/>
            </p:nvCxnSpPr>
            <p:spPr>
              <a:xfrm>
                <a:off x="142875" y="990600"/>
                <a:ext cx="32385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D0D5DD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17" name="Google Shape;417;p26"/>
              <p:cNvSpPr txBox="1"/>
              <p:nvPr/>
            </p:nvSpPr>
            <p:spPr>
              <a:xfrm>
                <a:off x="142875" y="1057275"/>
                <a:ext cx="3238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b="0" lang="en" sz="808">
                    <a:solidFill>
                      <a:srgbClr val="5C6670"/>
                    </a:solidFill>
                    <a:latin typeface="Inter"/>
                    <a:ea typeface="Inter"/>
                    <a:cs typeface="Inter"/>
                    <a:sym typeface="Inter"/>
                  </a:rPr>
                  <a:t>Dual-peak demand window requiring staggered operational shifts.</a:t>
                </a:r>
                <a:endParaRPr b="0" sz="808">
                  <a:solidFill>
                    <a:srgbClr val="5C667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" name="Google Shape;422;p27"/>
          <p:cNvGrpSpPr/>
          <p:nvPr/>
        </p:nvGrpSpPr>
        <p:grpSpPr>
          <a:xfrm>
            <a:off x="6858000" y="381000"/>
            <a:ext cx="1733700" cy="247650"/>
            <a:chOff x="0" y="0"/>
            <a:chExt cx="1733700" cy="247650"/>
          </a:xfrm>
        </p:grpSpPr>
        <p:sp>
          <p:nvSpPr>
            <p:cNvPr id="423" name="Google Shape;423;p27"/>
            <p:cNvSpPr/>
            <p:nvPr/>
          </p:nvSpPr>
          <p:spPr>
            <a:xfrm>
              <a:off x="0" y="0"/>
              <a:ext cx="228600" cy="2286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7"/>
            <p:cNvSpPr txBox="1"/>
            <p:nvPr/>
          </p:nvSpPr>
          <p:spPr>
            <a:xfrm>
              <a:off x="0" y="0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OI</a:t>
              </a:r>
              <a:endParaRPr b="1"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425" name="Google Shape;425;p27"/>
            <p:cNvSpPr txBox="1"/>
            <p:nvPr/>
          </p:nvSpPr>
          <p:spPr>
            <a:xfrm>
              <a:off x="304800" y="19050"/>
              <a:ext cx="1428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UBER EATS</a:t>
              </a:r>
              <a:endParaRPr b="1" sz="10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26" name="Google Shape;426;p27"/>
          <p:cNvSpPr txBox="1"/>
          <p:nvPr/>
        </p:nvSpPr>
        <p:spPr>
          <a:xfrm>
            <a:off x="571500" y="381000"/>
            <a:ext cx="6096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1" lang="en" sz="18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rPr>
              <a:t>Project Limitations and Future Improvements</a:t>
            </a:r>
            <a:endParaRPr b="1" sz="1800">
              <a:solidFill>
                <a:srgbClr val="11141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27" name="Google Shape;427;p27"/>
          <p:cNvCxnSpPr/>
          <p:nvPr/>
        </p:nvCxnSpPr>
        <p:spPr>
          <a:xfrm>
            <a:off x="571500" y="857250"/>
            <a:ext cx="80010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11418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28" name="Google Shape;428;p27"/>
          <p:cNvGrpSpPr/>
          <p:nvPr/>
        </p:nvGrpSpPr>
        <p:grpSpPr>
          <a:xfrm>
            <a:off x="571500" y="1095375"/>
            <a:ext cx="3714900" cy="3571950"/>
            <a:chOff x="571500" y="1095375"/>
            <a:chExt cx="3714900" cy="3571950"/>
          </a:xfrm>
        </p:grpSpPr>
        <p:sp>
          <p:nvSpPr>
            <p:cNvPr id="429" name="Google Shape;429;p27"/>
            <p:cNvSpPr txBox="1"/>
            <p:nvPr/>
          </p:nvSpPr>
          <p:spPr>
            <a:xfrm>
              <a:off x="571500" y="1095375"/>
              <a:ext cx="37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1000">
                  <a:solidFill>
                    <a:srgbClr val="005CE6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CURRENT LIMITATIONS</a:t>
              </a:r>
              <a:endParaRPr b="0" sz="1000">
                <a:solidFill>
                  <a:srgbClr val="005CE6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sp>
          <p:nvSpPr>
            <p:cNvPr id="430" name="Google Shape;430;p27"/>
            <p:cNvSpPr/>
            <p:nvPr/>
          </p:nvSpPr>
          <p:spPr>
            <a:xfrm>
              <a:off x="571500" y="1381125"/>
              <a:ext cx="3714900" cy="3286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5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7"/>
            <p:cNvSpPr/>
            <p:nvPr/>
          </p:nvSpPr>
          <p:spPr>
            <a:xfrm>
              <a:off x="571500" y="1381125"/>
              <a:ext cx="3714900" cy="38100"/>
            </a:xfrm>
            <a:prstGeom prst="rect">
              <a:avLst/>
            </a:prstGeom>
            <a:solidFill>
              <a:srgbClr val="1114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7"/>
            <p:cNvSpPr txBox="1"/>
            <p:nvPr/>
          </p:nvSpPr>
          <p:spPr>
            <a:xfrm>
              <a:off x="762000" y="1571625"/>
              <a:ext cx="3333900" cy="29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11418"/>
                </a:buClr>
                <a:buSzPts val="1200"/>
                <a:buFont typeface="Inter"/>
                <a:buChar char="●"/>
              </a:pPr>
              <a:r>
                <a:rPr b="1" lang="en" sz="12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Clustering Sensitivity:</a:t>
              </a:r>
              <a:r>
                <a:rPr b="0" lang="en" sz="12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Clusters show high sensitivity to scaling parameters.</a:t>
              </a:r>
              <a:endParaRPr b="0" sz="12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11418"/>
                </a:buClr>
                <a:buSzPts val="1200"/>
                <a:buFont typeface="Inter"/>
                <a:buChar char="●"/>
              </a:pPr>
              <a:r>
                <a:rPr b="1" lang="en" sz="12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Validation Needs:</a:t>
              </a:r>
              <a:r>
                <a:rPr b="0" lang="en" sz="12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Requires independent dataset validation for accurate sentiment scoring.</a:t>
              </a:r>
              <a:endParaRPr b="0" sz="12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11418"/>
                </a:buClr>
                <a:buSzPts val="1200"/>
                <a:buFont typeface="Inter"/>
                <a:buChar char="●"/>
              </a:pPr>
              <a:r>
                <a:rPr b="1" lang="en" sz="12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Poor Delivery Model Fit:</a:t>
              </a:r>
              <a:r>
                <a:rPr b="0" lang="en" sz="12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Delivery model exhibits an R² value near zero.</a:t>
              </a:r>
              <a:endParaRPr b="0" sz="12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11418"/>
                </a:buClr>
                <a:buSzPts val="1200"/>
                <a:buFont typeface="Inter"/>
                <a:buChar char="●"/>
              </a:pPr>
              <a:r>
                <a:rPr b="1" lang="en" sz="12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Baseline Outperformance:</a:t>
              </a:r>
              <a:r>
                <a:rPr b="0" lang="en" sz="12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Naive baseline outperformed complex models with 100% MAPE.</a:t>
              </a:r>
              <a:endParaRPr b="0" sz="12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111418"/>
                </a:buClr>
                <a:buSzPts val="1200"/>
                <a:buFont typeface="Inter"/>
                <a:buChar char="●"/>
              </a:pPr>
              <a:r>
                <a:rPr b="1" lang="en" sz="12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Non-Causal Analysis:</a:t>
              </a:r>
              <a:r>
                <a:rPr b="0" lang="en" sz="12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Current tip analysis remains strictly non-causal.</a:t>
              </a:r>
              <a:endParaRPr b="0" sz="12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433" name="Google Shape;43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7238" y="1095375"/>
            <a:ext cx="9600" cy="3543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4" name="Google Shape;434;p27"/>
          <p:cNvGrpSpPr/>
          <p:nvPr/>
        </p:nvGrpSpPr>
        <p:grpSpPr>
          <a:xfrm>
            <a:off x="4857750" y="1095375"/>
            <a:ext cx="3714900" cy="3571950"/>
            <a:chOff x="4857750" y="1095375"/>
            <a:chExt cx="3714900" cy="3571950"/>
          </a:xfrm>
        </p:grpSpPr>
        <p:sp>
          <p:nvSpPr>
            <p:cNvPr id="435" name="Google Shape;435;p27"/>
            <p:cNvSpPr txBox="1"/>
            <p:nvPr/>
          </p:nvSpPr>
          <p:spPr>
            <a:xfrm>
              <a:off x="4857750" y="1095375"/>
              <a:ext cx="37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1000">
                  <a:solidFill>
                    <a:srgbClr val="005CE6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FUTURE SCOPE &amp; ROADMAP</a:t>
              </a:r>
              <a:endParaRPr b="0" sz="1000">
                <a:solidFill>
                  <a:srgbClr val="005CE6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sp>
          <p:nvSpPr>
            <p:cNvPr id="436" name="Google Shape;436;p27"/>
            <p:cNvSpPr/>
            <p:nvPr/>
          </p:nvSpPr>
          <p:spPr>
            <a:xfrm>
              <a:off x="4857750" y="1381125"/>
              <a:ext cx="3714900" cy="3286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5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7"/>
            <p:cNvSpPr/>
            <p:nvPr/>
          </p:nvSpPr>
          <p:spPr>
            <a:xfrm>
              <a:off x="4857750" y="1381125"/>
              <a:ext cx="3714900" cy="381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7"/>
            <p:cNvSpPr txBox="1"/>
            <p:nvPr/>
          </p:nvSpPr>
          <p:spPr>
            <a:xfrm>
              <a:off x="5048250" y="1571625"/>
              <a:ext cx="3333900" cy="29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11418"/>
                </a:buClr>
                <a:buSzPts val="1200"/>
                <a:buFont typeface="Inter"/>
                <a:buChar char="●"/>
              </a:pPr>
              <a:r>
                <a:rPr b="1" lang="en" sz="12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Richer Behavioral Data:</a:t>
              </a:r>
              <a:r>
                <a:rPr b="0" lang="en" sz="12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Incorporate detailed user behavioral and restaurant-level metrics.</a:t>
              </a:r>
              <a:endParaRPr b="0" sz="12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11418"/>
                </a:buClr>
                <a:buSzPts val="1200"/>
                <a:buFont typeface="Inter"/>
                <a:buChar char="●"/>
              </a:pPr>
              <a:r>
                <a:rPr b="1" lang="en" sz="12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External Delivery Features:</a:t>
              </a:r>
              <a:r>
                <a:rPr b="0" lang="en" sz="12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Integrate real-time external variables such as driver availability.</a:t>
              </a:r>
              <a:endParaRPr b="0" sz="12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11418"/>
                </a:buClr>
                <a:buSzPts val="1200"/>
                <a:buFont typeface="Inter"/>
                <a:buChar char="●"/>
              </a:pPr>
              <a:r>
                <a:rPr b="1" lang="en" sz="12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Extended Historical Data:</a:t>
              </a:r>
              <a:r>
                <a:rPr b="0" lang="en" sz="12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Expand time-series history for improved trend analysis.</a:t>
              </a:r>
              <a:endParaRPr b="0" sz="12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111418"/>
                </a:buClr>
                <a:buSzPts val="1200"/>
                <a:buFont typeface="Inter"/>
                <a:buChar char="●"/>
              </a:pPr>
              <a:r>
                <a:rPr b="1" lang="en" sz="12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Fine-Grained Tracking:</a:t>
              </a:r>
              <a:r>
                <a:rPr b="0" lang="en" sz="1200">
                  <a:solidFill>
                    <a:srgbClr val="111418"/>
                  </a:solidFill>
                  <a:latin typeface="Inter"/>
                  <a:ea typeface="Inter"/>
                  <a:cs typeface="Inter"/>
                  <a:sym typeface="Inter"/>
                </a:rPr>
                <a:t> Deploy granular spatial and location tracking capabilities.</a:t>
              </a:r>
              <a:endParaRPr b="0" sz="1200">
                <a:solidFill>
                  <a:srgbClr val="11141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" name="Google Shape;443;p2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44" name="Google Shape;444;p2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1114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5" name="Google Shape;445;p28"/>
            <p:cNvGrpSpPr/>
            <p:nvPr/>
          </p:nvGrpSpPr>
          <p:grpSpPr>
            <a:xfrm>
              <a:off x="7143750" y="381000"/>
              <a:ext cx="1733700" cy="247650"/>
              <a:chOff x="0" y="0"/>
              <a:chExt cx="1733700" cy="247650"/>
            </a:xfrm>
          </p:grpSpPr>
          <p:sp>
            <p:nvSpPr>
              <p:cNvPr id="446" name="Google Shape;446;p28"/>
              <p:cNvSpPr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solidFill>
                <a:srgbClr val="005CE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28"/>
              <p:cNvSpPr txBox="1"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OI</a:t>
                </a:r>
                <a:endParaRPr b="1" sz="12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448" name="Google Shape;448;p28"/>
              <p:cNvSpPr txBox="1"/>
              <p:nvPr/>
            </p:nvSpPr>
            <p:spPr>
              <a:xfrm>
                <a:off x="304800" y="19050"/>
                <a:ext cx="1428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UBER EATS</a:t>
                </a:r>
                <a:endParaRPr b="1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449" name="Google Shape;449;p28"/>
            <p:cNvSpPr txBox="1"/>
            <p:nvPr/>
          </p:nvSpPr>
          <p:spPr>
            <a:xfrm>
              <a:off x="571500" y="381000"/>
              <a:ext cx="619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lang="en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End-to-End ML Pipeline – Project Summary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450" name="Google Shape;450;p28"/>
            <p:cNvCxnSpPr/>
            <p:nvPr/>
          </p:nvCxnSpPr>
          <p:spPr>
            <a:xfrm>
              <a:off x="571500" y="85725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51" name="Google Shape;451;p28"/>
          <p:cNvGrpSpPr/>
          <p:nvPr/>
        </p:nvGrpSpPr>
        <p:grpSpPr>
          <a:xfrm>
            <a:off x="571500" y="1143000"/>
            <a:ext cx="1809600" cy="1409850"/>
            <a:chOff x="0" y="0"/>
            <a:chExt cx="1809600" cy="1409850"/>
          </a:xfrm>
        </p:grpSpPr>
        <p:sp>
          <p:nvSpPr>
            <p:cNvPr id="452" name="Google Shape;452;p28"/>
            <p:cNvSpPr/>
            <p:nvPr/>
          </p:nvSpPr>
          <p:spPr>
            <a:xfrm>
              <a:off x="0" y="0"/>
              <a:ext cx="1809600" cy="192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8"/>
            <p:cNvSpPr txBox="1"/>
            <p:nvPr/>
          </p:nvSpPr>
          <p:spPr>
            <a:xfrm>
              <a:off x="0" y="114300"/>
              <a:ext cx="1809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1000">
                  <a:solidFill>
                    <a:srgbClr val="005CE6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DAY 01</a:t>
              </a:r>
              <a:endParaRPr b="0" sz="1000">
                <a:solidFill>
                  <a:srgbClr val="005CE6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sp>
          <p:nvSpPr>
            <p:cNvPr id="454" name="Google Shape;454;p28"/>
            <p:cNvSpPr txBox="1"/>
            <p:nvPr/>
          </p:nvSpPr>
          <p:spPr>
            <a:xfrm>
              <a:off x="0" y="361950"/>
              <a:ext cx="1809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Data Generation</a:t>
              </a:r>
              <a:endParaRPr b="1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900"/>
                </a:spcAft>
                <a:buNone/>
              </a:pPr>
              <a:r>
                <a:rPr b="0" lang="en" sz="1000">
                  <a:solidFill>
                    <a:srgbClr val="A0AEC0"/>
                  </a:solidFill>
                  <a:latin typeface="Inter"/>
                  <a:ea typeface="Inter"/>
                  <a:cs typeface="Inter"/>
                  <a:sym typeface="Inter"/>
                </a:rPr>
                <a:t>Raw data cleaning &amp; feature engineering foundation established.</a:t>
              </a:r>
              <a:endParaRPr b="0" sz="10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55" name="Google Shape;455;p28"/>
          <p:cNvGrpSpPr/>
          <p:nvPr/>
        </p:nvGrpSpPr>
        <p:grpSpPr>
          <a:xfrm>
            <a:off x="2667000" y="1143000"/>
            <a:ext cx="1809600" cy="1409850"/>
            <a:chOff x="0" y="0"/>
            <a:chExt cx="1809600" cy="1409850"/>
          </a:xfrm>
        </p:grpSpPr>
        <p:sp>
          <p:nvSpPr>
            <p:cNvPr id="456" name="Google Shape;456;p28"/>
            <p:cNvSpPr/>
            <p:nvPr/>
          </p:nvSpPr>
          <p:spPr>
            <a:xfrm>
              <a:off x="0" y="0"/>
              <a:ext cx="1809600" cy="192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8"/>
            <p:cNvSpPr txBox="1"/>
            <p:nvPr/>
          </p:nvSpPr>
          <p:spPr>
            <a:xfrm>
              <a:off x="0" y="114300"/>
              <a:ext cx="1809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1000">
                  <a:solidFill>
                    <a:srgbClr val="005CE6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DAYS 02–06</a:t>
              </a:r>
              <a:endParaRPr b="0" sz="1000">
                <a:solidFill>
                  <a:srgbClr val="005CE6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sp>
          <p:nvSpPr>
            <p:cNvPr id="458" name="Google Shape;458;p28"/>
            <p:cNvSpPr txBox="1"/>
            <p:nvPr/>
          </p:nvSpPr>
          <p:spPr>
            <a:xfrm>
              <a:off x="0" y="361950"/>
              <a:ext cx="1809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Pipeline Execution</a:t>
              </a:r>
              <a:endParaRPr b="1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900"/>
                </a:spcAft>
                <a:buNone/>
              </a:pPr>
              <a:r>
                <a:rPr b="0" lang="en" sz="1000">
                  <a:solidFill>
                    <a:srgbClr val="A0AEC0"/>
                  </a:solidFill>
                  <a:latin typeface="Inter"/>
                  <a:ea typeface="Inter"/>
                  <a:cs typeface="Inter"/>
                  <a:sym typeface="Inter"/>
                </a:rPr>
                <a:t>Segmentation, NLP, Delivery Prediction, and Time Series modeling.</a:t>
              </a:r>
              <a:endParaRPr b="0" sz="10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59" name="Google Shape;459;p28"/>
          <p:cNvGrpSpPr/>
          <p:nvPr/>
        </p:nvGrpSpPr>
        <p:grpSpPr>
          <a:xfrm>
            <a:off x="4762500" y="1143000"/>
            <a:ext cx="1809600" cy="1409850"/>
            <a:chOff x="0" y="0"/>
            <a:chExt cx="1809600" cy="1409850"/>
          </a:xfrm>
        </p:grpSpPr>
        <p:sp>
          <p:nvSpPr>
            <p:cNvPr id="460" name="Google Shape;460;p28"/>
            <p:cNvSpPr/>
            <p:nvPr/>
          </p:nvSpPr>
          <p:spPr>
            <a:xfrm>
              <a:off x="0" y="0"/>
              <a:ext cx="1809600" cy="19200"/>
            </a:xfrm>
            <a:prstGeom prst="rect">
              <a:avLst/>
            </a:prstGeom>
            <a:solidFill>
              <a:srgbClr val="00A36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8"/>
            <p:cNvSpPr txBox="1"/>
            <p:nvPr/>
          </p:nvSpPr>
          <p:spPr>
            <a:xfrm>
              <a:off x="0" y="114300"/>
              <a:ext cx="1809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1000">
                  <a:solidFill>
                    <a:srgbClr val="00A36C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EVALUATION</a:t>
              </a:r>
              <a:endParaRPr b="0" sz="1000">
                <a:solidFill>
                  <a:srgbClr val="00A36C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sp>
          <p:nvSpPr>
            <p:cNvPr id="462" name="Google Shape;462;p28"/>
            <p:cNvSpPr txBox="1"/>
            <p:nvPr/>
          </p:nvSpPr>
          <p:spPr>
            <a:xfrm>
              <a:off x="0" y="361950"/>
              <a:ext cx="1809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Model &amp; Insights</a:t>
              </a:r>
              <a:endParaRPr b="1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900"/>
                </a:spcAft>
                <a:buNone/>
              </a:pPr>
              <a:r>
                <a:rPr b="0" lang="en" sz="1000">
                  <a:solidFill>
                    <a:srgbClr val="A0AEC0"/>
                  </a:solidFill>
                  <a:latin typeface="Inter"/>
                  <a:ea typeface="Inter"/>
                  <a:cs typeface="Inter"/>
                  <a:sym typeface="Inter"/>
                </a:rPr>
                <a:t>ML model evaluation translating algorithms into operational business value.</a:t>
              </a:r>
              <a:endParaRPr b="0" sz="10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63" name="Google Shape;463;p28"/>
          <p:cNvGrpSpPr/>
          <p:nvPr/>
        </p:nvGrpSpPr>
        <p:grpSpPr>
          <a:xfrm>
            <a:off x="6858000" y="1143000"/>
            <a:ext cx="1714500" cy="1409850"/>
            <a:chOff x="0" y="0"/>
            <a:chExt cx="1714500" cy="1409850"/>
          </a:xfrm>
        </p:grpSpPr>
        <p:sp>
          <p:nvSpPr>
            <p:cNvPr id="464" name="Google Shape;464;p28"/>
            <p:cNvSpPr/>
            <p:nvPr/>
          </p:nvSpPr>
          <p:spPr>
            <a:xfrm>
              <a:off x="0" y="0"/>
              <a:ext cx="1714500" cy="19200"/>
            </a:xfrm>
            <a:prstGeom prst="rect">
              <a:avLst/>
            </a:prstGeom>
            <a:solidFill>
              <a:srgbClr val="00A36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8"/>
            <p:cNvSpPr txBox="1"/>
            <p:nvPr/>
          </p:nvSpPr>
          <p:spPr>
            <a:xfrm>
              <a:off x="0" y="114300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1000">
                  <a:solidFill>
                    <a:srgbClr val="00A36C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DAY 07</a:t>
              </a:r>
              <a:endParaRPr b="0" sz="1000">
                <a:solidFill>
                  <a:srgbClr val="00A36C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sp>
          <p:nvSpPr>
            <p:cNvPr id="466" name="Google Shape;466;p28"/>
            <p:cNvSpPr txBox="1"/>
            <p:nvPr/>
          </p:nvSpPr>
          <p:spPr>
            <a:xfrm>
              <a:off x="0" y="361950"/>
              <a:ext cx="1714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Final Presentation</a:t>
              </a:r>
              <a:endParaRPr b="1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900"/>
                </a:spcAft>
                <a:buNone/>
              </a:pPr>
              <a:r>
                <a:rPr b="0" lang="en" sz="1000">
                  <a:solidFill>
                    <a:srgbClr val="A0AEC0"/>
                  </a:solidFill>
                  <a:latin typeface="Inter"/>
                  <a:ea typeface="Inter"/>
                  <a:cs typeface="Inter"/>
                  <a:sym typeface="Inter"/>
                </a:rPr>
                <a:t>Synthesized findings delivered to inform operations.</a:t>
              </a:r>
              <a:endParaRPr b="0" sz="10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67" name="Google Shape;467;p28"/>
          <p:cNvGrpSpPr/>
          <p:nvPr/>
        </p:nvGrpSpPr>
        <p:grpSpPr>
          <a:xfrm>
            <a:off x="571500" y="2571750"/>
            <a:ext cx="8001000" cy="1238400"/>
            <a:chOff x="0" y="0"/>
            <a:chExt cx="8001000" cy="1238400"/>
          </a:xfrm>
        </p:grpSpPr>
        <p:sp>
          <p:nvSpPr>
            <p:cNvPr id="468" name="Google Shape;468;p28"/>
            <p:cNvSpPr/>
            <p:nvPr/>
          </p:nvSpPr>
          <p:spPr>
            <a:xfrm>
              <a:off x="0" y="0"/>
              <a:ext cx="8001000" cy="1238400"/>
            </a:xfrm>
            <a:prstGeom prst="roundRect">
              <a:avLst>
                <a:gd fmla="val 1538" name="adj"/>
              </a:avLst>
            </a:prstGeom>
            <a:solidFill>
              <a:srgbClr val="1E23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8"/>
            <p:cNvSpPr/>
            <p:nvPr/>
          </p:nvSpPr>
          <p:spPr>
            <a:xfrm>
              <a:off x="0" y="0"/>
              <a:ext cx="38100" cy="1238400"/>
            </a:xfrm>
            <a:prstGeom prst="rect">
              <a:avLst/>
            </a:prstGeom>
            <a:solidFill>
              <a:srgbClr val="005C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8"/>
            <p:cNvSpPr txBox="1"/>
            <p:nvPr/>
          </p:nvSpPr>
          <p:spPr>
            <a:xfrm>
              <a:off x="285750" y="228600"/>
              <a:ext cx="7429500" cy="7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The 7-day project successfully demonstrates an end-to-end framework combining data analytics and ML for food delivery operations.</a:t>
              </a:r>
              <a:endParaRPr b="0" sz="110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0" lang="en" sz="935">
                  <a:solidFill>
                    <a:srgbClr val="A0AEC0"/>
                  </a:solidFill>
                  <a:latin typeface="Inter"/>
                  <a:ea typeface="Inter"/>
                  <a:cs typeface="Inter"/>
                  <a:sym typeface="Inter"/>
                </a:rPr>
                <a:t>The pipeline successfully moved from raw data cleaning and feature engineering to ML model evaluation and business insights, proving that integrated analytics can effectively inform and optimize food delivery operations.</a:t>
              </a:r>
              <a:endParaRPr b="0" sz="935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71" name="Google Shape;471;p28"/>
          <p:cNvGrpSpPr/>
          <p:nvPr/>
        </p:nvGrpSpPr>
        <p:grpSpPr>
          <a:xfrm>
            <a:off x="571500" y="4095750"/>
            <a:ext cx="8001000" cy="571500"/>
            <a:chOff x="0" y="0"/>
            <a:chExt cx="8001000" cy="571500"/>
          </a:xfrm>
        </p:grpSpPr>
        <p:cxnSp>
          <p:nvCxnSpPr>
            <p:cNvPr id="472" name="Google Shape;472;p28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2D354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73" name="Google Shape;473;p28"/>
            <p:cNvSpPr txBox="1"/>
            <p:nvPr/>
          </p:nvSpPr>
          <p:spPr>
            <a:xfrm>
              <a:off x="0" y="190500"/>
              <a:ext cx="800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lang="en" sz="1600">
                  <a:solidFill>
                    <a:srgbClr val="00A36C"/>
                  </a:solidFill>
                  <a:latin typeface="Inter"/>
                  <a:ea typeface="Inter"/>
                  <a:cs typeface="Inter"/>
                  <a:sym typeface="Inter"/>
                </a:rPr>
                <a:t>Thank You!</a:t>
              </a:r>
              <a:endParaRPr b="1" sz="1600">
                <a:solidFill>
                  <a:srgbClr val="00A36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